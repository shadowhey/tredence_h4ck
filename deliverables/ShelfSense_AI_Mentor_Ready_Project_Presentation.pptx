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2d6aa882f643fa" /><Relationship Type="http://schemas.openxmlformats.org/officeDocument/2006/relationships/extended-properties" Target="/docProps/app.xml" Id="R37a2de0f09f04cac" /><Relationship Type="http://schemas.openxmlformats.org/officeDocument/2006/relationships/officeDocument" Target="/ppt/presentation.xml" Id="R6da24e11fcba48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fd7d3cf39b496d"/>
  </p:sldMasterIdLst>
  <p:notesMasterIdLst>
    <p:notesMasterId xmlns:r="http://schemas.openxmlformats.org/officeDocument/2006/relationships" r:id="R6b03a5914b934fba"/>
  </p:notesMasterIdLst>
  <p:sldIdLst>
    <p:sldId xmlns:r="http://schemas.openxmlformats.org/officeDocument/2006/relationships" id="256" r:id="R630f0533fa6648c3"/>
    <p:sldId xmlns:r="http://schemas.openxmlformats.org/officeDocument/2006/relationships" id="257" r:id="Rf674dfb8ec1a40df"/>
    <p:sldId xmlns:r="http://schemas.openxmlformats.org/officeDocument/2006/relationships" id="258" r:id="R8835c8d5064e4d6c"/>
    <p:sldId xmlns:r="http://schemas.openxmlformats.org/officeDocument/2006/relationships" id="259" r:id="R8b8d76ff9e4f42fe"/>
    <p:sldId xmlns:r="http://schemas.openxmlformats.org/officeDocument/2006/relationships" id="260" r:id="Rb436c0e388214766"/>
    <p:sldId xmlns:r="http://schemas.openxmlformats.org/officeDocument/2006/relationships" id="261" r:id="Rf6994392f6c9416b"/>
    <p:sldId xmlns:r="http://schemas.openxmlformats.org/officeDocument/2006/relationships" id="262" r:id="R696d0d1adddf4159"/>
    <p:sldId xmlns:r="http://schemas.openxmlformats.org/officeDocument/2006/relationships" id="263" r:id="Rd2441f3e55d844e4"/>
    <p:sldId xmlns:r="http://schemas.openxmlformats.org/officeDocument/2006/relationships" id="264" r:id="R15f1f9cf0de946d2"/>
    <p:sldId xmlns:r="http://schemas.openxmlformats.org/officeDocument/2006/relationships" id="265" r:id="R4233e7315cf14717"/>
    <p:sldId xmlns:r="http://schemas.openxmlformats.org/officeDocument/2006/relationships" id="266" r:id="R6bad420718134854"/>
    <p:sldId xmlns:r="http://schemas.openxmlformats.org/officeDocument/2006/relationships" id="267" r:id="R22fccb1d40a64735"/>
    <p:sldId xmlns:r="http://schemas.openxmlformats.org/officeDocument/2006/relationships" id="268" r:id="Re02bba6b517440f4"/>
    <p:sldId xmlns:r="http://schemas.openxmlformats.org/officeDocument/2006/relationships" id="269" r:id="R2be1294b35a94bd8"/>
    <p:sldId xmlns:r="http://schemas.openxmlformats.org/officeDocument/2006/relationships" id="270" r:id="R4993d79ed6c04f7a"/>
    <p:sldId xmlns:r="http://schemas.openxmlformats.org/officeDocument/2006/relationships" id="271" r:id="R696d3dfb8dbe4f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f352526ed43c4" /><Relationship Type="http://schemas.openxmlformats.org/officeDocument/2006/relationships/slideMaster" Target="/ppt/slideMasters/slideMaster1.xml" Id="Rb8fd7d3cf39b496d" /><Relationship Type="http://schemas.openxmlformats.org/officeDocument/2006/relationships/notesMaster" Target="/ppt/notesMasters/notesMaster1.xml" Id="R6b03a5914b934fba" /><Relationship Type="http://schemas.openxmlformats.org/officeDocument/2006/relationships/presProps" Target="/ppt/presProps.xml" Id="R3606cc532e1540f1" /><Relationship Type="http://schemas.openxmlformats.org/officeDocument/2006/relationships/tableStyles" Target="/ppt/tableStyles.xml" Id="Rb0cecab185d741d0" /><Relationship Type="http://schemas.openxmlformats.org/officeDocument/2006/relationships/slide" Target="/ppt/slides/slide1.xml" Id="R630f0533fa6648c3" /><Relationship Type="http://schemas.openxmlformats.org/officeDocument/2006/relationships/slide" Target="/ppt/slides/slide2.xml" Id="Rf674dfb8ec1a40df" /><Relationship Type="http://schemas.openxmlformats.org/officeDocument/2006/relationships/slide" Target="/ppt/slides/slide3.xml" Id="R8835c8d5064e4d6c" /><Relationship Type="http://schemas.openxmlformats.org/officeDocument/2006/relationships/slide" Target="/ppt/slides/slide4.xml" Id="R8b8d76ff9e4f42fe" /><Relationship Type="http://schemas.openxmlformats.org/officeDocument/2006/relationships/slide" Target="/ppt/slides/slide5.xml" Id="Rb436c0e388214766" /><Relationship Type="http://schemas.openxmlformats.org/officeDocument/2006/relationships/slide" Target="/ppt/slides/slide6.xml" Id="Rf6994392f6c9416b" /><Relationship Type="http://schemas.openxmlformats.org/officeDocument/2006/relationships/slide" Target="/ppt/slides/slide7.xml" Id="R696d0d1adddf4159" /><Relationship Type="http://schemas.openxmlformats.org/officeDocument/2006/relationships/slide" Target="/ppt/slides/slide8.xml" Id="Rd2441f3e55d844e4" /><Relationship Type="http://schemas.openxmlformats.org/officeDocument/2006/relationships/slide" Target="/ppt/slides/slide9.xml" Id="R15f1f9cf0de946d2" /><Relationship Type="http://schemas.openxmlformats.org/officeDocument/2006/relationships/slide" Target="/ppt/slides/slide10.xml" Id="R4233e7315cf14717" /><Relationship Type="http://schemas.openxmlformats.org/officeDocument/2006/relationships/slide" Target="/ppt/slides/slide11.xml" Id="R6bad420718134854" /><Relationship Type="http://schemas.openxmlformats.org/officeDocument/2006/relationships/slide" Target="/ppt/slides/slide12.xml" Id="R22fccb1d40a64735" /><Relationship Type="http://schemas.openxmlformats.org/officeDocument/2006/relationships/slide" Target="/ppt/slides/slide13.xml" Id="Re02bba6b517440f4" /><Relationship Type="http://schemas.openxmlformats.org/officeDocument/2006/relationships/slide" Target="/ppt/slides/slide14.xml" Id="R2be1294b35a94bd8" /><Relationship Type="http://schemas.openxmlformats.org/officeDocument/2006/relationships/slide" Target="/ppt/slides/slide15.xml" Id="R4993d79ed6c04f7a" /><Relationship Type="http://schemas.openxmlformats.org/officeDocument/2006/relationships/slide" Target="/ppt/slides/slide16.xml" Id="R696d3dfb8dbe4f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d3aa94e8d944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6acded10e4464e" /><Relationship Type="http://schemas.openxmlformats.org/officeDocument/2006/relationships/notesMaster" Target="/ppt/notesMasters/notesMaster1.xml" Id="R8c2830a91950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61c73dbda44928" /><Relationship Type="http://schemas.openxmlformats.org/officeDocument/2006/relationships/notesMaster" Target="/ppt/notesMasters/notesMaster1.xml" Id="R094bfb29d4a14e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c60449bbe3442c" /><Relationship Type="http://schemas.openxmlformats.org/officeDocument/2006/relationships/notesMaster" Target="/ppt/notesMasters/notesMaster1.xml" Id="R264837bb223042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473f847228451e" /><Relationship Type="http://schemas.openxmlformats.org/officeDocument/2006/relationships/notesMaster" Target="/ppt/notesMasters/notesMaster1.xml" Id="R2e3d6303c7684b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92c62448e2472e" /><Relationship Type="http://schemas.openxmlformats.org/officeDocument/2006/relationships/notesMaster" Target="/ppt/notesMasters/notesMaster1.xml" Id="R09ee4dc1a90a4b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54abd8af014781" /><Relationship Type="http://schemas.openxmlformats.org/officeDocument/2006/relationships/notesMaster" Target="/ppt/notesMasters/notesMaster1.xml" Id="R799c805849bd48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ab54f884104ed5" /><Relationship Type="http://schemas.openxmlformats.org/officeDocument/2006/relationships/notesMaster" Target="/ppt/notesMasters/notesMaster1.xml" Id="Rf70592756a8740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2b84bef0434c2f" /><Relationship Type="http://schemas.openxmlformats.org/officeDocument/2006/relationships/notesMaster" Target="/ppt/notesMasters/notesMaster1.xml" Id="Rd895930e353041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40873ed60745c4" /><Relationship Type="http://schemas.openxmlformats.org/officeDocument/2006/relationships/notesMaster" Target="/ppt/notesMasters/notesMaster1.xml" Id="R2329b8b384544e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64318805f04fd5" /><Relationship Type="http://schemas.openxmlformats.org/officeDocument/2006/relationships/notesMaster" Target="/ppt/notesMasters/notesMaster1.xml" Id="R339d1a33e47e42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f893affe924fd2" /><Relationship Type="http://schemas.openxmlformats.org/officeDocument/2006/relationships/notesMaster" Target="/ppt/notesMasters/notesMaster1.xml" Id="R38947b889fc149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f8ac733e4440d4" /><Relationship Type="http://schemas.openxmlformats.org/officeDocument/2006/relationships/notesMaster" Target="/ppt/notesMasters/notesMaster1.xml" Id="R950c7ce8faa94c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443d8fb1c44c99" /><Relationship Type="http://schemas.openxmlformats.org/officeDocument/2006/relationships/notesMaster" Target="/ppt/notesMasters/notesMaster1.xml" Id="Rf675db6617fe46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0b03a9cebd4c29" /><Relationship Type="http://schemas.openxmlformats.org/officeDocument/2006/relationships/notesMaster" Target="/ppt/notesMasters/notesMaster1.xml" Id="R563f96193e7d4e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4ccc284cd04d0c" /><Relationship Type="http://schemas.openxmlformats.org/officeDocument/2006/relationships/notesMaster" Target="/ppt/notesMasters/notesMaster1.xml" Id="Rd1041128222c4a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71803baaf1446c" /><Relationship Type="http://schemas.openxmlformats.org/officeDocument/2006/relationships/notesMaster" Target="/ppt/notesMasters/notesMaster1.xml" Id="R32d1dc761c0641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Repository fixture: image-parsing/tests/fixtures/compliance/pipeline-verification/shelf_photo.png</a:t>
            </a:r>
          </a:p>
          <a:p xmlns:a="http://schemas.openxmlformats.org/drawingml/2006/main">
            <a:r>
              <a:t>Product and implementation evidence: docs/shared/ARCHITECTURE.md; docs/shared/COMPLIANCE_ROADMAP.md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backend/uploads/image_processing/outputs/7/analysis.json</a:t>
            </a:r>
          </a:p>
          <a:p xmlns:a="http://schemas.openxmlformats.org/drawingml/2006/main">
            <a:r>
              <a:t>backend/uploads/image_processing/outputs/7/compliance_audit.json</a:t>
            </a:r>
          </a:p>
          <a:p xmlns:a="http://schemas.openxmlformats.org/drawingml/2006/main">
            <a:r>
              <a:t>docs/shared/COMPLIANCE_ROADMAP.md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Fixture image: image-parsing/tests/fixtures/compliance/pipeline-verification/shelf_photo.png</a:t>
            </a:r>
          </a:p>
          <a:p xmlns:a="http://schemas.openxmlformats.org/drawingml/2006/main">
            <a:r>
              <a:t>Compliance decision behavior: backend/app/services/compliance_service.py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docs/shared/COMPLIANCE_ROADMAP.md</a:t>
            </a:r>
          </a:p>
          <a:p xmlns:a="http://schemas.openxmlformats.org/drawingml/2006/main">
            <a:r>
              <a:t>image-parsing/README.md</a:t>
            </a:r>
          </a:p>
          <a:p xmlns:a="http://schemas.openxmlformats.org/drawingml/2006/main">
            <a:r>
              <a:t>backend/PRICE_TAG_DETECTION_SETUP.md</a:t>
            </a:r>
          </a:p>
          <a:p xmlns:a="http://schemas.openxmlformats.org/drawingml/2006/main">
            <a:r>
              <a:t>image-parsing/MODEL_SETUP.md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backend/app/services/image_processing_service.py</a:t>
            </a:r>
          </a:p>
          <a:p xmlns:a="http://schemas.openxmlformats.org/drawingml/2006/main">
            <a:r>
              <a:t>image-parsing/src/shelf_image_parsing/pipeline.py</a:t>
            </a:r>
          </a:p>
          <a:p xmlns:a="http://schemas.openxmlformats.org/drawingml/2006/main">
            <a:r>
              <a:t>backend/app/services/cutout_service.py</a:t>
            </a:r>
          </a:p>
          <a:p xmlns:a="http://schemas.openxmlformats.org/drawingml/2006/main">
            <a:r>
              <a:t>backend/app/services/position_calibration.py</a:t>
            </a:r>
          </a:p>
          <a:p xmlns:a="http://schemas.openxmlformats.org/drawingml/2006/main">
            <a:r>
              <a:t>backend/app/services/compliance_reporting_service.py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docs/shared/ARCHITECTURE.md</a:t>
            </a:r>
          </a:p>
          <a:p xmlns:a="http://schemas.openxmlformats.org/drawingml/2006/main">
            <a:r>
              <a:t>backend/app/main.py</a:t>
            </a:r>
          </a:p>
          <a:p xmlns:a="http://schemas.openxmlformats.org/drawingml/2006/main">
            <a:r>
              <a:t>frontend/src/lib/api.ts</a:t>
            </a:r>
          </a:p>
          <a:p xmlns:a="http://schemas.openxmlformats.org/drawingml/2006/main">
            <a:r>
              <a:t>backend/app/db/models.py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docs/shared/ARCHITECTURE.md</a:t>
            </a:r>
          </a:p>
          <a:p xmlns:a="http://schemas.openxmlformats.org/drawingml/2006/main">
            <a:r>
              <a:t>docs/shared/COMPLIANCE_ROADMAP.md</a:t>
            </a:r>
          </a:p>
          <a:p xmlns:a="http://schemas.openxmlformats.org/drawingml/2006/main">
            <a:r>
              <a:t>backend/app/services/image_processing_service.py</a:t>
            </a:r>
          </a:p>
          <a:p xmlns:a="http://schemas.openxmlformats.org/drawingml/2006/main">
            <a:r>
              <a:t>backend/app/services/cutout_service.py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Annotated output: backend/uploads/image_processing/outputs/7/3a6f2153432e4bc7986eab152f10d97c_annotated.jpg</a:t>
            </a:r>
          </a:p>
          <a:p xmlns:a="http://schemas.openxmlformats.org/drawingml/2006/main">
            <a:r>
              <a:t>image-parsing/src/shelf_image_parsing/detector.py</a:t>
            </a:r>
          </a:p>
          <a:p xmlns:a="http://schemas.openxmlformats.org/drawingml/2006/main">
            <a:r>
              <a:t>image-parsing/src/shelf_image_parsing/row_segmenter.py</a:t>
            </a:r>
          </a:p>
          <a:p xmlns:a="http://schemas.openxmlformats.org/drawingml/2006/main">
            <a:r>
              <a:t>backend/app/services/cutout_service.py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backend/app/services/cutout_service.py</a:t>
            </a:r>
          </a:p>
          <a:p xmlns:a="http://schemas.openxmlformats.org/drawingml/2006/main">
            <a:r>
              <a:t>backend/app/services/product_matching/candidate_filtering.py</a:t>
            </a:r>
          </a:p>
          <a:p xmlns:a="http://schemas.openxmlformats.org/drawingml/2006/main">
            <a:r>
              <a:t>backend/app/services/product_matching/cluster_consensus.py</a:t>
            </a:r>
          </a:p>
          <a:p xmlns:a="http://schemas.openxmlformats.org/drawingml/2006/main">
            <a:r>
              <a:t>docs/shared/COMPLIANCE_ROADMAP.md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image-parsing/tests/fixtures/compliance/pipeline-verification/manifest.json</a:t>
            </a:r>
          </a:p>
          <a:p xmlns:a="http://schemas.openxmlformats.org/drawingml/2006/main">
            <a:r>
              <a:t>backend/app/services/position_calibration.py</a:t>
            </a:r>
          </a:p>
          <a:p xmlns:a="http://schemas.openxmlformats.org/drawingml/2006/main">
            <a:r>
              <a:t>backend/app/services/compliance_service.py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UI screenshots: /Users/dhruv/.gemini/antigravity-ide/brain/a392ed68-b77d-43a0-9d68-3ae758d8881a/dashboard_desktop.png and designer_desktop.png</a:t>
            </a:r>
          </a:p>
          <a:p xmlns:a="http://schemas.openxmlformats.org/drawingml/2006/main">
            <a:r>
              <a:t>frontend/src/app/page.tsx</a:t>
            </a:r>
          </a:p>
          <a:p xmlns:a="http://schemas.openxmlformats.org/drawingml/2006/main">
            <a:r>
              <a:t>frontend/src/app/designer/page.tsx</a:t>
            </a:r>
          </a:p>
          <a:p xmlns:a="http://schemas.openxmlformats.org/drawingml/2006/main">
            <a:r>
              <a:t>frontend/src/app/analysis/page.tsx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image-parsing/tests/fixtures/compliance/pipeline-verification/manifest.json</a:t>
            </a:r>
          </a:p>
          <a:p xmlns:a="http://schemas.openxmlformats.org/drawingml/2006/main">
            <a:r>
              <a:t>backend/uploads/image_processing/outputs/7/compliance_audit.json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docs/shared/CONTRIBUTIONS.md entries dated 2026-10-22 and 2026-10-23</a:t>
            </a:r>
          </a:p>
          <a:p xmlns:a="http://schemas.openxmlformats.org/drawingml/2006/main">
            <a:r>
              <a:t>backend/tests/</a:t>
            </a:r>
          </a:p>
          <a:p xmlns:a="http://schemas.openxmlformats.org/drawingml/2006/main">
            <a:r>
              <a:t>image-parsing/tests/</a:t>
            </a:r>
          </a:p>
          <a:p xmlns:a="http://schemas.openxmlformats.org/drawingml/2006/main">
            <a:r>
              <a:t>frontend/tests/</a:t>
            </a:r>
          </a:p>
          <a:p xmlns:a="http://schemas.openxmlformats.org/drawingml/2006/main">
            <a:r>
              <a:t>e2e/tests/analysis_product_match.spec.ts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docs/shared/ARCHITECTURE.md</a:t>
            </a:r>
          </a:p>
          <a:p xmlns:a="http://schemas.openxmlformats.org/drawingml/2006/main">
            <a:r>
              <a:t>docs/shared/COMPLIANCE_ROADMAP.md</a:t>
            </a:r>
          </a:p>
          <a:p xmlns:a="http://schemas.openxmlformats.org/drawingml/2006/main">
            <a:r>
              <a:t>docs/shared/CONTRIBUTIONS.md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docs/shared/COMPLIANCE_ROADMAP.md</a:t>
            </a:r>
          </a:p>
          <a:p xmlns:a="http://schemas.openxmlformats.org/drawingml/2006/main">
            <a:r>
              <a:t>backend/PRICE_TAG_DETECTION_SETUP.md</a:t>
            </a:r>
          </a:p>
          <a:p xmlns:a="http://schemas.openxmlformats.org/drawingml/2006/main">
            <a:r>
              <a:t>image-parsing/tests/fixtures/compliance/pipeline-verification/manifest.json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/ sources:</a:t>
            </a:r>
          </a:p>
          <a:p xmlns:a="http://schemas.openxmlformats.org/drawingml/2006/main">
            <a:r>
              <a:t>docs/shared/COMPLIANCE_ROADMAP.md controlled test fixture checklist</a:t>
            </a:r>
          </a:p>
          <a:p xmlns:a="http://schemas.openxmlformats.org/drawingml/2006/main">
            <a:r>
              <a:t>docs/shared/PRODUCT_SPEC.md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c77b8177a44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61ec5c1ab44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7cd54e68042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08d71ad2a4d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3264c406545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2abd599fb47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1BA751-3136-4225-AC94-07DA91A7A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460D11-3600-4065-9F3E-C8BCF49D3F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304561-EE5F-43FF-811D-574B8D9BBE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85B1A7-78C2-4153-B727-046B4C4F8F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F6BE90-05C4-4C3A-8F6E-6C3654C6B9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5C93BD-7B9E-41A7-86A2-2E3E54145A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615A1E-B5E2-486A-A277-C2203462F8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5C77A2-DFB2-48B2-95A1-94D0D96677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224C8B-E3B2-49B2-A653-99ABBD073F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6B9F9B-03E0-471D-9722-E197850679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e13d83efc34626" /><Relationship Type="http://schemas.openxmlformats.org/officeDocument/2006/relationships/slideLayout" Target="/ppt/slideLayouts/slideLayout1.xml" Id="R649f39e5f30f40a8" /><Relationship Type="http://schemas.openxmlformats.org/officeDocument/2006/relationships/slideLayout" Target="/ppt/slideLayouts/slideLayout2.xml" Id="R6a220d1d9418480d" /><Relationship Type="http://schemas.openxmlformats.org/officeDocument/2006/relationships/slideLayout" Target="/ppt/slideLayouts/slideLayout3.xml" Id="R38f977f3771946a0" /><Relationship Type="http://schemas.openxmlformats.org/officeDocument/2006/relationships/slideLayout" Target="/ppt/slideLayouts/slideLayout4.xml" Id="R6988dcc37b9f47a1" /><Relationship Type="http://schemas.openxmlformats.org/officeDocument/2006/relationships/slideLayout" Target="/ppt/slideLayouts/slideLayout5.xml" Id="R369363161e5647b3" /><Relationship Type="http://schemas.openxmlformats.org/officeDocument/2006/relationships/slideLayout" Target="/ppt/slideLayouts/slideLayout6.xml" Id="R4adab742510549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9f39e5f30f40a8"/>
    <p:sldLayoutId xmlns:r="http://schemas.openxmlformats.org/officeDocument/2006/relationships" id="2147483650" r:id="R6a220d1d9418480d"/>
    <p:sldLayoutId xmlns:r="http://schemas.openxmlformats.org/officeDocument/2006/relationships" id="2147483651" r:id="R38f977f3771946a0"/>
    <p:sldLayoutId xmlns:r="http://schemas.openxmlformats.org/officeDocument/2006/relationships" id="2147483652" r:id="R6988dcc37b9f47a1"/>
    <p:sldLayoutId xmlns:r="http://schemas.openxmlformats.org/officeDocument/2006/relationships" id="2147483653" r:id="R369363161e5647b3"/>
    <p:sldLayoutId xmlns:r="http://schemas.openxmlformats.org/officeDocument/2006/relationships" id="2147483654" r:id="R4adab742510549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69a66a3dfe49a2" /><Relationship Type="http://schemas.openxmlformats.org/officeDocument/2006/relationships/image" Target="/ppt/media/image.png" Id="R030fe04edc21491d" /><Relationship Type="http://schemas.openxmlformats.org/officeDocument/2006/relationships/notesSlide" Target="/ppt/notesSlides/notesSlide1.xml" Id="R4fc069815877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a4aef01a94499b" /><Relationship Type="http://schemas.openxmlformats.org/officeDocument/2006/relationships/notesSlide" Target="/ppt/notesSlides/notesSlide2.xml" Id="R6f2d7b45ee2e41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396bde34ff4dee" /><Relationship Type="http://schemas.openxmlformats.org/officeDocument/2006/relationships/image" Target="/ppt/media/image2.png" Id="R9deffe7b994c4705" /><Relationship Type="http://schemas.openxmlformats.org/officeDocument/2006/relationships/notesSlide" Target="/ppt/notesSlides/notesSlide3.xml" Id="R16a4a1332a6c44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16041227f4df7" /><Relationship Type="http://schemas.openxmlformats.org/officeDocument/2006/relationships/notesSlide" Target="/ppt/notesSlides/notesSlide4.xml" Id="R7501d06392c442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36c1a22b84e4d" /><Relationship Type="http://schemas.openxmlformats.org/officeDocument/2006/relationships/notesSlide" Target="/ppt/notesSlides/notesSlide5.xml" Id="Re8955bbf707a42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d957661374825" /><Relationship Type="http://schemas.openxmlformats.org/officeDocument/2006/relationships/notesSlide" Target="/ppt/notesSlides/notesSlide6.xml" Id="R3aba75729d974a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3261a8b38461e" /><Relationship Type="http://schemas.openxmlformats.org/officeDocument/2006/relationships/notesSlide" Target="/ppt/notesSlides/notesSlide7.xml" Id="R465205780e4746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317303fb84eb9" /><Relationship Type="http://schemas.openxmlformats.org/officeDocument/2006/relationships/image" Target="/ppt/media/image.jpeg" Id="R06eb68b11acc4d0a" /><Relationship Type="http://schemas.openxmlformats.org/officeDocument/2006/relationships/image" Target="/ppt/media/image2.jpeg" Id="R60efa19ecace4f32" /><Relationship Type="http://schemas.openxmlformats.org/officeDocument/2006/relationships/image" Target="/ppt/media/image3.jpeg" Id="R3594b40ec9cf4e1d" /><Relationship Type="http://schemas.openxmlformats.org/officeDocument/2006/relationships/image" Target="/ppt/media/image4.jpeg" Id="Rf15926b44b49430f" /><Relationship Type="http://schemas.openxmlformats.org/officeDocument/2006/relationships/image" Target="/ppt/media/image5.jpeg" Id="R58046fd884f64b0d" /><Relationship Type="http://schemas.openxmlformats.org/officeDocument/2006/relationships/notesSlide" Target="/ppt/notesSlides/notesSlide8.xml" Id="R0cc1d03646dc41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c5b937ed74aaa" /><Relationship Type="http://schemas.openxmlformats.org/officeDocument/2006/relationships/notesSlide" Target="/ppt/notesSlides/notesSlide9.xml" Id="R01ea0066104b43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22fc1ade04ebf" /><Relationship Type="http://schemas.openxmlformats.org/officeDocument/2006/relationships/notesSlide" Target="/ppt/notesSlides/notesSlide10.xml" Id="R4b979d64bb5b4b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bebf219b424401" /><Relationship Type="http://schemas.openxmlformats.org/officeDocument/2006/relationships/image" Target="/ppt/media/image3.png" Id="Rc5255cd412c34c12" /><Relationship Type="http://schemas.openxmlformats.org/officeDocument/2006/relationships/image" Target="/ppt/media/image4.png" Id="R8f9350e3f03047ed" /><Relationship Type="http://schemas.openxmlformats.org/officeDocument/2006/relationships/notesSlide" Target="/ppt/notesSlides/notesSlide11.xml" Id="Ra084f9007cbe4d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27daed7d8487e" /><Relationship Type="http://schemas.openxmlformats.org/officeDocument/2006/relationships/image" Target="/ppt/media/image5.png" Id="R96e1bd51e1284b35" /><Relationship Type="http://schemas.openxmlformats.org/officeDocument/2006/relationships/notesSlide" Target="/ppt/notesSlides/notesSlide12.xml" Id="R0194ad47a80943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c124006b74da4" /><Relationship Type="http://schemas.openxmlformats.org/officeDocument/2006/relationships/notesSlide" Target="/ppt/notesSlides/notesSlide13.xml" Id="Rfd8b079a6c564d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4c28791b74c1b" /><Relationship Type="http://schemas.openxmlformats.org/officeDocument/2006/relationships/notesSlide" Target="/ppt/notesSlides/notesSlide14.xml" Id="R819a9ef3a5a541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64adbf1a14178" /><Relationship Type="http://schemas.openxmlformats.org/officeDocument/2006/relationships/notesSlide" Target="/ppt/notesSlides/notesSlide15.xml" Id="R0acf25d79f3a4a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24337391e34187" /><Relationship Type="http://schemas.openxmlformats.org/officeDocument/2006/relationships/notesSlide" Target="/ppt/notesSlides/notesSlide16.xml" Id="R9a484759024c4e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F5A47-92E1-413B-8FF8-786FB7EC8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fe04edc21491d"/>
          <a:stretch xmlns:a="http://schemas.openxmlformats.org/drawingml/2006/main"/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oundRect">
            <a:avLst>
              <a:gd name="adj" fmla="val 2188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93853-CD35-4F3E-937D-3654624D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EA4C8-AF38-40D4-B194-942D22DC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0"/>
            <a:ext cx="1238250" cy="68580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3CB30-1383-4613-9443-CB76ECE4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 i="0">
                <a:solidFill>
                  <a:srgbClr val="2DD4BF"/>
                </a:solidFill>
              </a:defRPr>
            </a:defPPr>
            <a:lvl1pPr>
              <a:defRPr sz="1650" b="1" i="0">
                <a:solidFill>
                  <a:srgbClr val="2DD4BF"/>
                </a:solidFill>
              </a:defRPr>
            </a:lvl1pPr>
            <a:lvl2pPr>
              <a:defRPr sz="1650" b="1" i="0">
                <a:solidFill>
                  <a:srgbClr val="2DD4BF"/>
                </a:solidFill>
              </a:defRPr>
            </a:lvl2pPr>
            <a:lvl3pPr>
              <a:defRPr sz="1650" b="1" i="0">
                <a:solidFill>
                  <a:srgbClr val="2DD4BF"/>
                </a:solidFill>
              </a:defRPr>
            </a:lvl3pPr>
            <a:lvl4pPr>
              <a:defRPr sz="1650" b="1" i="0">
                <a:solidFill>
                  <a:srgbClr val="2DD4BF"/>
                </a:solidFill>
              </a:defRPr>
            </a:lvl4pPr>
            <a:lvl5pPr>
              <a:defRPr sz="1650" b="1" i="0">
                <a:solidFill>
                  <a:srgbClr val="2DD4BF"/>
                </a:solidFill>
              </a:defRPr>
            </a:lvl5pPr>
            <a:lvl6pPr>
              <a:defRPr sz="1650" b="1" i="0">
                <a:solidFill>
                  <a:srgbClr val="2DD4BF"/>
                </a:solidFill>
              </a:defRPr>
            </a:lvl6pPr>
            <a:lvl7pPr>
              <a:defRPr sz="1650" b="1" i="0">
                <a:solidFill>
                  <a:srgbClr val="2DD4BF"/>
                </a:solidFill>
              </a:defRPr>
            </a:lvl7pPr>
            <a:lvl8pPr>
              <a:defRPr sz="1650" b="1" i="0">
                <a:solidFill>
                  <a:srgbClr val="2DD4BF"/>
                </a:solidFill>
              </a:defRPr>
            </a:lvl8pPr>
            <a:lvl9pPr>
              <a:defRPr sz="16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ShelfSense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4D62E-683D-4297-A6EE-BB1BAF35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524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 i="0">
                <a:solidFill>
                  <a:srgbClr val="F8FAFC"/>
                </a:solidFill>
              </a:defRPr>
            </a:defPPr>
            <a:lvl1pPr>
              <a:defRPr sz="3450" b="1" i="0">
                <a:solidFill>
                  <a:srgbClr val="F8FAFC"/>
                </a:solidFill>
              </a:defRPr>
            </a:lvl1pPr>
            <a:lvl2pPr>
              <a:defRPr sz="3450" b="1" i="0">
                <a:solidFill>
                  <a:srgbClr val="F8FAFC"/>
                </a:solidFill>
              </a:defRPr>
            </a:lvl2pPr>
            <a:lvl3pPr>
              <a:defRPr sz="3450" b="1" i="0">
                <a:solidFill>
                  <a:srgbClr val="F8FAFC"/>
                </a:solidFill>
              </a:defRPr>
            </a:lvl3pPr>
            <a:lvl4pPr>
              <a:defRPr sz="3450" b="1" i="0">
                <a:solidFill>
                  <a:srgbClr val="F8FAFC"/>
                </a:solidFill>
              </a:defRPr>
            </a:lvl4pPr>
            <a:lvl5pPr>
              <a:defRPr sz="3450" b="1" i="0">
                <a:solidFill>
                  <a:srgbClr val="F8FAFC"/>
                </a:solidFill>
              </a:defRPr>
            </a:lvl5pPr>
            <a:lvl6pPr>
              <a:defRPr sz="3450" b="1" i="0">
                <a:solidFill>
                  <a:srgbClr val="F8FAFC"/>
                </a:solidFill>
              </a:defRPr>
            </a:lvl6pPr>
            <a:lvl7pPr>
              <a:defRPr sz="3450" b="1" i="0">
                <a:solidFill>
                  <a:srgbClr val="F8FAFC"/>
                </a:solidFill>
              </a:defRPr>
            </a:lvl7pPr>
            <a:lvl8pPr>
              <a:defRPr sz="3450" b="1" i="0">
                <a:solidFill>
                  <a:srgbClr val="F8FAFC"/>
                </a:solidFill>
              </a:defRPr>
            </a:lvl8pPr>
            <a:lvl9pPr>
              <a:defRPr sz="34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3450" b="1" i="0">
                <a:solidFill>
                  <a:srgbClr val="F8FAFC"/>
                </a:solidFill>
              </a:defRPr>
            </a:pPr>
            <a:r>
              <a:rPr sz="3450" b="1" i="0">
                <a:solidFill>
                  <a:srgbClr val="F8FAFC"/>
                </a:solidFill>
              </a:rPr>
              <a:t>AI-Powered Supermarket Shelf &amp;</a:t>
            </a:r>
          </a:p>
          <a:p xmlns:a="http://schemas.openxmlformats.org/drawingml/2006/main">
            <a:pPr>
              <a:defRPr sz="3450" b="1" i="0">
                <a:solidFill>
                  <a:srgbClr val="F8FAFC"/>
                </a:solidFill>
              </a:defRPr>
            </a:pPr>
            <a:r>
              <a:rPr sz="3450" b="1" i="0">
                <a:solidFill>
                  <a:srgbClr val="F8FAFC"/>
                </a:solidFill>
              </a:rPr>
              <a:t>Planogram Compliance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8E844-4E7A-4D88-BD4C-1E245868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 i="0">
                <a:solidFill>
                  <a:srgbClr val="A8B1C1"/>
                </a:solidFill>
              </a:defRPr>
            </a:defPPr>
            <a:lvl1pPr>
              <a:defRPr sz="1650" b="0" i="0">
                <a:solidFill>
                  <a:srgbClr val="A8B1C1"/>
                </a:solidFill>
              </a:defRPr>
            </a:lvl1pPr>
            <a:lvl2pPr>
              <a:defRPr sz="1650" b="0" i="0">
                <a:solidFill>
                  <a:srgbClr val="A8B1C1"/>
                </a:solidFill>
              </a:defRPr>
            </a:lvl2pPr>
            <a:lvl3pPr>
              <a:defRPr sz="1650" b="0" i="0">
                <a:solidFill>
                  <a:srgbClr val="A8B1C1"/>
                </a:solidFill>
              </a:defRPr>
            </a:lvl3pPr>
            <a:lvl4pPr>
              <a:defRPr sz="1650" b="0" i="0">
                <a:solidFill>
                  <a:srgbClr val="A8B1C1"/>
                </a:solidFill>
              </a:defRPr>
            </a:lvl4pPr>
            <a:lvl5pPr>
              <a:defRPr sz="1650" b="0" i="0">
                <a:solidFill>
                  <a:srgbClr val="A8B1C1"/>
                </a:solidFill>
              </a:defRPr>
            </a:lvl5pPr>
            <a:lvl6pPr>
              <a:defRPr sz="1650" b="0" i="0">
                <a:solidFill>
                  <a:srgbClr val="A8B1C1"/>
                </a:solidFill>
              </a:defRPr>
            </a:lvl6pPr>
            <a:lvl7pPr>
              <a:defRPr sz="1650" b="0" i="0">
                <a:solidFill>
                  <a:srgbClr val="A8B1C1"/>
                </a:solidFill>
              </a:defRPr>
            </a:lvl7pPr>
            <a:lvl8pPr>
              <a:defRPr sz="1650" b="0" i="0">
                <a:solidFill>
                  <a:srgbClr val="A8B1C1"/>
                </a:solidFill>
              </a:defRPr>
            </a:lvl8pPr>
            <a:lvl9pPr>
              <a:defRPr sz="165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650" b="0" i="0">
                <a:solidFill>
                  <a:srgbClr val="A8B1C1"/>
                </a:solidFill>
              </a:defRPr>
            </a:pPr>
            <a:r>
              <a:rPr sz="1650" b="0" i="0">
                <a:solidFill>
                  <a:srgbClr val="A8B1C1"/>
                </a:solidFill>
              </a:rPr>
              <a:t>From physical planogram design to evidence-backed shelf-photo auditing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C41F4-516C-46C4-AEB3-5CFA3951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6BC01-CAB5-4BF4-A7D4-0BAC3500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E2E8F0"/>
                </a:solidFill>
              </a:defRPr>
            </a:defPPr>
            <a:lvl1pPr>
              <a:defRPr sz="1200" b="0" i="0">
                <a:solidFill>
                  <a:srgbClr val="E2E8F0"/>
                </a:solidFill>
              </a:defRPr>
            </a:lvl1pPr>
            <a:lvl2pPr>
              <a:defRPr sz="1200" b="0" i="0">
                <a:solidFill>
                  <a:srgbClr val="E2E8F0"/>
                </a:solidFill>
              </a:defRPr>
            </a:lvl2pPr>
            <a:lvl3pPr>
              <a:defRPr sz="1200" b="0" i="0">
                <a:solidFill>
                  <a:srgbClr val="E2E8F0"/>
                </a:solidFill>
              </a:defRPr>
            </a:lvl3pPr>
            <a:lvl4pPr>
              <a:defRPr sz="1200" b="0" i="0">
                <a:solidFill>
                  <a:srgbClr val="E2E8F0"/>
                </a:solidFill>
              </a:defRPr>
            </a:lvl4pPr>
            <a:lvl5pPr>
              <a:defRPr sz="1200" b="0" i="0">
                <a:solidFill>
                  <a:srgbClr val="E2E8F0"/>
                </a:solidFill>
              </a:defRPr>
            </a:lvl5pPr>
            <a:lvl6pPr>
              <a:defRPr sz="1200" b="0" i="0">
                <a:solidFill>
                  <a:srgbClr val="E2E8F0"/>
                </a:solidFill>
              </a:defRPr>
            </a:lvl6pPr>
            <a:lvl7pPr>
              <a:defRPr sz="1200" b="0" i="0">
                <a:solidFill>
                  <a:srgbClr val="E2E8F0"/>
                </a:solidFill>
              </a:defRPr>
            </a:lvl7pPr>
            <a:lvl8pPr>
              <a:defRPr sz="1200" b="0" i="0">
                <a:solidFill>
                  <a:srgbClr val="E2E8F0"/>
                </a:solidFill>
              </a:defRPr>
            </a:lvl8pPr>
            <a:lvl9pPr>
              <a:defRPr sz="120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Prepared for mentor review</a:t>
            </a:r>
          </a:p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Dhruv  |  October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9D844-6958-4C80-A4FA-6F7FE655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9527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D36B9-1C79-4ED4-9FCC-06C69111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Working prototype + controlled fixture evidence</a:t>
            </a:r>
          </a:p>
        </p:txBody>
      </p:sp>
    </p:spTree>
    <p:extLst>
      <p:ext uri="{BB962C8B-B14F-4D97-AF65-F5344CB8AC3E}">
        <p14:creationId xmlns:p14="http://schemas.microsoft.com/office/powerpoint/2010/main" val="839250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1A4DF-215A-4AEF-ABC4-F982A845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A0D74-71A3-4CEE-B518-A6B95D5B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4433B-11C9-428C-8FC4-392B9A57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What has been built, and what the evidence supports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E7359-2E20-4F97-B879-4100EAA8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56730-6132-45F0-B8DA-81C80B1B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76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 i="0">
                <a:solidFill>
                  <a:srgbClr val="F8FAFC"/>
                </a:solidFill>
              </a:defRPr>
            </a:defPPr>
            <a:lvl1pPr>
              <a:defRPr sz="1875" b="1" i="0">
                <a:solidFill>
                  <a:srgbClr val="F8FAFC"/>
                </a:solidFill>
              </a:defRPr>
            </a:lvl1pPr>
            <a:lvl2pPr>
              <a:defRPr sz="1875" b="1" i="0">
                <a:solidFill>
                  <a:srgbClr val="F8FAFC"/>
                </a:solidFill>
              </a:defRPr>
            </a:lvl2pPr>
            <a:lvl3pPr>
              <a:defRPr sz="1875" b="1" i="0">
                <a:solidFill>
                  <a:srgbClr val="F8FAFC"/>
                </a:solidFill>
              </a:defRPr>
            </a:lvl3pPr>
            <a:lvl4pPr>
              <a:defRPr sz="1875" b="1" i="0">
                <a:solidFill>
                  <a:srgbClr val="F8FAFC"/>
                </a:solidFill>
              </a:defRPr>
            </a:lvl4pPr>
            <a:lvl5pPr>
              <a:defRPr sz="1875" b="1" i="0">
                <a:solidFill>
                  <a:srgbClr val="F8FAFC"/>
                </a:solidFill>
              </a:defRPr>
            </a:lvl5pPr>
            <a:lvl6pPr>
              <a:defRPr sz="1875" b="1" i="0">
                <a:solidFill>
                  <a:srgbClr val="F8FAFC"/>
                </a:solidFill>
              </a:defRPr>
            </a:lvl6pPr>
            <a:lvl7pPr>
              <a:defRPr sz="1875" b="1" i="0">
                <a:solidFill>
                  <a:srgbClr val="F8FAFC"/>
                </a:solidFill>
              </a:defRPr>
            </a:lvl7pPr>
            <a:lvl8pPr>
              <a:defRPr sz="1875" b="1" i="0">
                <a:solidFill>
                  <a:srgbClr val="F8FAFC"/>
                </a:solidFill>
              </a:defRPr>
            </a:lvl8pPr>
            <a:lvl9pPr>
              <a:defRPr sz="187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875" b="1" i="0">
                <a:solidFill>
                  <a:srgbClr val="F8FAFC"/>
                </a:solidFill>
              </a:defRPr>
            </a:pPr>
            <a:r>
              <a:rPr sz="1875" b="1" i="0">
                <a:solidFill>
                  <a:srgbClr val="F8FAFC"/>
                </a:solidFill>
              </a:rPr>
              <a:t>ShelfSense converts a planogram into a frozen audit reference, processes a shelf photograph, and produces an explainable compliance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9E89B-3B77-43E9-859B-5277F1A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B0666-6B76-4556-892E-C9740510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8607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Planogram designer stores shelf geometry in centimetres and prevents overlap or out-of-bounds placement.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69EA8-5D4F-446A-9C16-BF9B3A99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54291-977A-42D0-BCD7-67DE7430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1947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Image pipeline detects shelf elements, extracts product crops, maps rows and positions, then matches only the shelf-scoped catalogue.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B148B-27DC-4CD0-AC50-F28C01B6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61C0F-CED3-4641-ABE1-68FE52D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5287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Compliance report preserves evidence, locations, confidence gates, and operator dispositions.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E2A97-87EB-4E95-AD48-CAC1650A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85950"/>
            <a:ext cx="3333750" cy="3000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1B22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9B8BA-FE42-4C50-858A-616DBF5F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71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2DD4BF"/>
                </a:solidFill>
              </a:defRPr>
            </a:defPPr>
            <a:lvl1pPr>
              <a:defRPr sz="1125" b="1" i="0">
                <a:solidFill>
                  <a:srgbClr val="2DD4BF"/>
                </a:solidFill>
              </a:defRPr>
            </a:lvl1pPr>
            <a:lvl2pPr>
              <a:defRPr sz="1125" b="1" i="0">
                <a:solidFill>
                  <a:srgbClr val="2DD4BF"/>
                </a:solidFill>
              </a:defRPr>
            </a:lvl2pPr>
            <a:lvl3pPr>
              <a:defRPr sz="1125" b="1" i="0">
                <a:solidFill>
                  <a:srgbClr val="2DD4BF"/>
                </a:solidFill>
              </a:defRPr>
            </a:lvl3pPr>
            <a:lvl4pPr>
              <a:defRPr sz="1125" b="1" i="0">
                <a:solidFill>
                  <a:srgbClr val="2DD4BF"/>
                </a:solidFill>
              </a:defRPr>
            </a:lvl4pPr>
            <a:lvl5pPr>
              <a:defRPr sz="1125" b="1" i="0">
                <a:solidFill>
                  <a:srgbClr val="2DD4BF"/>
                </a:solidFill>
              </a:defRPr>
            </a:lvl5pPr>
            <a:lvl6pPr>
              <a:defRPr sz="1125" b="1" i="0">
                <a:solidFill>
                  <a:srgbClr val="2DD4BF"/>
                </a:solidFill>
              </a:defRPr>
            </a:lvl6pPr>
            <a:lvl7pPr>
              <a:defRPr sz="1125" b="1" i="0">
                <a:solidFill>
                  <a:srgbClr val="2DD4BF"/>
                </a:solidFill>
              </a:defRPr>
            </a:lvl7pPr>
            <a:lvl8pPr>
              <a:defRPr sz="1125" b="1" i="0">
                <a:solidFill>
                  <a:srgbClr val="2DD4BF"/>
                </a:solidFill>
              </a:defRPr>
            </a:lvl8pPr>
            <a:lvl9pPr>
              <a:defRPr sz="1125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2DD4BF"/>
                </a:solidFill>
              </a:defRPr>
            </a:pPr>
            <a:r>
              <a:rPr sz="1125" b="1" i="0">
                <a:solidFill>
                  <a:srgbClr val="2DD4BF"/>
                </a:solidFill>
              </a:rPr>
              <a:t>Verified fixture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5BA3F-9472-48A9-95AE-1A30BA96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900" b="1" i="0">
                <a:solidFill>
                  <a:srgbClr val="F8FAFC"/>
                </a:solidFill>
              </a:defRPr>
            </a:defPPr>
            <a:lvl1pPr>
              <a:defRPr sz="3900" b="1" i="0">
                <a:solidFill>
                  <a:srgbClr val="F8FAFC"/>
                </a:solidFill>
              </a:defRPr>
            </a:lvl1pPr>
            <a:lvl2pPr>
              <a:defRPr sz="3900" b="1" i="0">
                <a:solidFill>
                  <a:srgbClr val="F8FAFC"/>
                </a:solidFill>
              </a:defRPr>
            </a:lvl2pPr>
            <a:lvl3pPr>
              <a:defRPr sz="3900" b="1" i="0">
                <a:solidFill>
                  <a:srgbClr val="F8FAFC"/>
                </a:solidFill>
              </a:defRPr>
            </a:lvl3pPr>
            <a:lvl4pPr>
              <a:defRPr sz="3900" b="1" i="0">
                <a:solidFill>
                  <a:srgbClr val="F8FAFC"/>
                </a:solidFill>
              </a:defRPr>
            </a:lvl4pPr>
            <a:lvl5pPr>
              <a:defRPr sz="3900" b="1" i="0">
                <a:solidFill>
                  <a:srgbClr val="F8FAFC"/>
                </a:solidFill>
              </a:defRPr>
            </a:lvl5pPr>
            <a:lvl6pPr>
              <a:defRPr sz="3900" b="1" i="0">
                <a:solidFill>
                  <a:srgbClr val="F8FAFC"/>
                </a:solidFill>
              </a:defRPr>
            </a:lvl6pPr>
            <a:lvl7pPr>
              <a:defRPr sz="3900" b="1" i="0">
                <a:solidFill>
                  <a:srgbClr val="F8FAFC"/>
                </a:solidFill>
              </a:defRPr>
            </a:lvl7pPr>
            <a:lvl8pPr>
              <a:defRPr sz="3900" b="1" i="0">
                <a:solidFill>
                  <a:srgbClr val="F8FAFC"/>
                </a:solidFill>
              </a:defRPr>
            </a:lvl8pPr>
            <a:lvl9pPr>
              <a:defRPr sz="39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3900" b="1" i="0">
                <a:solidFill>
                  <a:srgbClr val="F8FAFC"/>
                </a:solidFill>
              </a:defRPr>
            </a:pPr>
            <a:r>
              <a:rPr sz="3900" b="1" i="0">
                <a:solidFill>
                  <a:srgbClr val="F8FAFC"/>
                </a:solidFill>
              </a:rPr>
              <a:t>54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1416F-656D-4FD8-A471-075A9B8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81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A8B1C1"/>
                </a:solidFill>
              </a:defRPr>
            </a:defPPr>
            <a:lvl1pPr>
              <a:defRPr sz="1200" b="0" i="0">
                <a:solidFill>
                  <a:srgbClr val="A8B1C1"/>
                </a:solidFill>
              </a:defRPr>
            </a:lvl1pPr>
            <a:lvl2pPr>
              <a:defRPr sz="1200" b="0" i="0">
                <a:solidFill>
                  <a:srgbClr val="A8B1C1"/>
                </a:solidFill>
              </a:defRPr>
            </a:lvl2pPr>
            <a:lvl3pPr>
              <a:defRPr sz="1200" b="0" i="0">
                <a:solidFill>
                  <a:srgbClr val="A8B1C1"/>
                </a:solidFill>
              </a:defRPr>
            </a:lvl3pPr>
            <a:lvl4pPr>
              <a:defRPr sz="1200" b="0" i="0">
                <a:solidFill>
                  <a:srgbClr val="A8B1C1"/>
                </a:solidFill>
              </a:defRPr>
            </a:lvl4pPr>
            <a:lvl5pPr>
              <a:defRPr sz="1200" b="0" i="0">
                <a:solidFill>
                  <a:srgbClr val="A8B1C1"/>
                </a:solidFill>
              </a:defRPr>
            </a:lvl5pPr>
            <a:lvl6pPr>
              <a:defRPr sz="1200" b="0" i="0">
                <a:solidFill>
                  <a:srgbClr val="A8B1C1"/>
                </a:solidFill>
              </a:defRPr>
            </a:lvl6pPr>
            <a:lvl7pPr>
              <a:defRPr sz="1200" b="0" i="0">
                <a:solidFill>
                  <a:srgbClr val="A8B1C1"/>
                </a:solidFill>
              </a:defRPr>
            </a:lvl7pPr>
            <a:lvl8pPr>
              <a:defRPr sz="1200" b="0" i="0">
                <a:solidFill>
                  <a:srgbClr val="A8B1C1"/>
                </a:solidFill>
              </a:defRPr>
            </a:lvl8pPr>
            <a:lvl9pPr>
              <a:defRPr sz="12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A8B1C1"/>
                </a:solidFill>
              </a:defRPr>
            </a:pPr>
            <a:r>
              <a:rPr sz="1200" b="0" i="0">
                <a:solidFill>
                  <a:srgbClr val="A8B1C1"/>
                </a:solidFill>
              </a:rPr>
              <a:t>correct facings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A03A3-E555-4D36-9135-1E638C84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76600"/>
            <a:ext cx="271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EB5E8-F850-49EF-B63E-EBCFB77B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86150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 i="0">
                <a:solidFill>
                  <a:srgbClr val="F59E0B"/>
                </a:solidFill>
              </a:defRPr>
            </a:defPPr>
            <a:lvl1pPr>
              <a:defRPr sz="2700" b="1" i="0">
                <a:solidFill>
                  <a:srgbClr val="F59E0B"/>
                </a:solidFill>
              </a:defRPr>
            </a:lvl1pPr>
            <a:lvl2pPr>
              <a:defRPr sz="2700" b="1" i="0">
                <a:solidFill>
                  <a:srgbClr val="F59E0B"/>
                </a:solidFill>
              </a:defRPr>
            </a:lvl2pPr>
            <a:lvl3pPr>
              <a:defRPr sz="2700" b="1" i="0">
                <a:solidFill>
                  <a:srgbClr val="F59E0B"/>
                </a:solidFill>
              </a:defRPr>
            </a:lvl3pPr>
            <a:lvl4pPr>
              <a:defRPr sz="2700" b="1" i="0">
                <a:solidFill>
                  <a:srgbClr val="F59E0B"/>
                </a:solidFill>
              </a:defRPr>
            </a:lvl4pPr>
            <a:lvl5pPr>
              <a:defRPr sz="2700" b="1" i="0">
                <a:solidFill>
                  <a:srgbClr val="F59E0B"/>
                </a:solidFill>
              </a:defRPr>
            </a:lvl5pPr>
            <a:lvl6pPr>
              <a:defRPr sz="2700" b="1" i="0">
                <a:solidFill>
                  <a:srgbClr val="F59E0B"/>
                </a:solidFill>
              </a:defRPr>
            </a:lvl6pPr>
            <a:lvl7pPr>
              <a:defRPr sz="2700" b="1" i="0">
                <a:solidFill>
                  <a:srgbClr val="F59E0B"/>
                </a:solidFill>
              </a:defRPr>
            </a:lvl7pPr>
            <a:lvl8pPr>
              <a:defRPr sz="2700" b="1" i="0">
                <a:solidFill>
                  <a:srgbClr val="F59E0B"/>
                </a:solidFill>
              </a:defRPr>
            </a:lvl8pPr>
            <a:lvl9pPr>
              <a:defRPr sz="27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2700" b="1" i="0">
                <a:solidFill>
                  <a:srgbClr val="F59E0B"/>
                </a:solidFill>
              </a:defRPr>
            </a:pPr>
            <a:r>
              <a:rPr sz="2700" b="1" i="0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FE0A4-E74F-47A1-9E65-24A1D923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7187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misplaced Yellow Lays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73C83-AFEE-4F7F-BC6E-EC18D6EE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71925"/>
            <a:ext cx="49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 i="0">
                <a:solidFill>
                  <a:srgbClr val="FB7185"/>
                </a:solidFill>
              </a:defRPr>
            </a:defPPr>
            <a:lvl1pPr>
              <a:defRPr sz="2700" b="1" i="0">
                <a:solidFill>
                  <a:srgbClr val="FB7185"/>
                </a:solidFill>
              </a:defRPr>
            </a:lvl1pPr>
            <a:lvl2pPr>
              <a:defRPr sz="2700" b="1" i="0">
                <a:solidFill>
                  <a:srgbClr val="FB7185"/>
                </a:solidFill>
              </a:defRPr>
            </a:lvl2pPr>
            <a:lvl3pPr>
              <a:defRPr sz="2700" b="1" i="0">
                <a:solidFill>
                  <a:srgbClr val="FB7185"/>
                </a:solidFill>
              </a:defRPr>
            </a:lvl3pPr>
            <a:lvl4pPr>
              <a:defRPr sz="2700" b="1" i="0">
                <a:solidFill>
                  <a:srgbClr val="FB7185"/>
                </a:solidFill>
              </a:defRPr>
            </a:lvl4pPr>
            <a:lvl5pPr>
              <a:defRPr sz="2700" b="1" i="0">
                <a:solidFill>
                  <a:srgbClr val="FB7185"/>
                </a:solidFill>
              </a:defRPr>
            </a:lvl5pPr>
            <a:lvl6pPr>
              <a:defRPr sz="2700" b="1" i="0">
                <a:solidFill>
                  <a:srgbClr val="FB7185"/>
                </a:solidFill>
              </a:defRPr>
            </a:lvl6pPr>
            <a:lvl7pPr>
              <a:defRPr sz="2700" b="1" i="0">
                <a:solidFill>
                  <a:srgbClr val="FB7185"/>
                </a:solidFill>
              </a:defRPr>
            </a:lvl7pPr>
            <a:lvl8pPr>
              <a:defRPr sz="2700" b="1" i="0">
                <a:solidFill>
                  <a:srgbClr val="FB7185"/>
                </a:solidFill>
              </a:defRPr>
            </a:lvl8pPr>
            <a:lvl9pPr>
              <a:defRPr sz="270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2700" b="1" i="0">
                <a:solidFill>
                  <a:srgbClr val="FB7185"/>
                </a:solidFill>
              </a:defRPr>
            </a:pPr>
            <a:r>
              <a:rPr sz="2700" b="1" i="0">
                <a:solidFill>
                  <a:srgbClr val="FB7185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BB6B5-72AA-4B5F-9347-0CE7949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576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empty facing detected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9CFF09-464B-4376-BBBB-3AED7E20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101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10 low-confidence boxes withheld from identity and quantity decisions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3EF02-93EF-48BB-B7D8-CFC0361F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91125"/>
            <a:ext cx="25527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3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50756-05D6-45D7-B600-8DAFDD62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38750"/>
            <a:ext cx="236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F59E0B"/>
                </a:solidFill>
              </a:defRPr>
            </a:defPPr>
            <a:lvl1pPr>
              <a:defRPr sz="825" b="1" i="0">
                <a:solidFill>
                  <a:srgbClr val="F59E0B"/>
                </a:solidFill>
              </a:defRPr>
            </a:lvl1pPr>
            <a:lvl2pPr>
              <a:defRPr sz="825" b="1" i="0">
                <a:solidFill>
                  <a:srgbClr val="F59E0B"/>
                </a:solidFill>
              </a:defRPr>
            </a:lvl2pPr>
            <a:lvl3pPr>
              <a:defRPr sz="825" b="1" i="0">
                <a:solidFill>
                  <a:srgbClr val="F59E0B"/>
                </a:solidFill>
              </a:defRPr>
            </a:lvl3pPr>
            <a:lvl4pPr>
              <a:defRPr sz="825" b="1" i="0">
                <a:solidFill>
                  <a:srgbClr val="F59E0B"/>
                </a:solidFill>
              </a:defRPr>
            </a:lvl4pPr>
            <a:lvl5pPr>
              <a:defRPr sz="825" b="1" i="0">
                <a:solidFill>
                  <a:srgbClr val="F59E0B"/>
                </a:solidFill>
              </a:defRPr>
            </a:lvl5pPr>
            <a:lvl6pPr>
              <a:defRPr sz="825" b="1" i="0">
                <a:solidFill>
                  <a:srgbClr val="F59E0B"/>
                </a:solidFill>
              </a:defRPr>
            </a:lvl6pPr>
            <a:lvl7pPr>
              <a:defRPr sz="825" b="1" i="0">
                <a:solidFill>
                  <a:srgbClr val="F59E0B"/>
                </a:solidFill>
              </a:defRPr>
            </a:lvl7pPr>
            <a:lvl8pPr>
              <a:defRPr sz="825" b="1" i="0">
                <a:solidFill>
                  <a:srgbClr val="F59E0B"/>
                </a:solidFill>
              </a:defRPr>
            </a:lvl8pPr>
            <a:lvl9pPr>
              <a:defRPr sz="82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F59E0B"/>
                </a:solidFill>
              </a:defRPr>
            </a:pPr>
            <a:r>
              <a:rPr sz="825" b="1" i="0">
                <a:solidFill>
                  <a:srgbClr val="F59E0B"/>
                </a:solidFill>
              </a:rPr>
              <a:t>Status: implemented, thresholds provisional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D22F0-52CF-4E3D-BCC5-CF569136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B72B6-AD5C-4FA7-8E9C-538F8FA0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02  /  16</a:t>
            </a:r>
          </a:p>
        </p:txBody>
      </p:sp>
    </p:spTree>
    <p:extLst>
      <p:ext uri="{BB962C8B-B14F-4D97-AF65-F5344CB8AC3E}">
        <p14:creationId xmlns:p14="http://schemas.microsoft.com/office/powerpoint/2010/main" val="993206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537CF-D091-4CB2-A3B4-DA7D2EC6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F6D5F-E131-4A9A-A310-C997FDD1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Problem statement and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9C0B2-D2CB-493E-912F-7D3B2E36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A shelf photo contains visual evidence. A planogram contains physical expectations. Compliance requires a defensible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F5B10-A0A1-4550-BB52-358B27C0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050B7-F75E-4248-AF5B-43EE0C4D3B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ffe7b994c4705"/>
          <a:stretch xmlns:a="http://schemas.openxmlformats.org/drawingml/2006/main"/>
        </p:blipFill>
        <p:spPr>
          <a:xfrm xmlns:a="http://schemas.openxmlformats.org/drawingml/2006/main">
            <a:off x="552450" y="1828800"/>
            <a:ext cx="3333750" cy="398145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CFB0E-31E4-4FEC-BC8D-33E4AA7F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E2E8F0"/>
                </a:solidFill>
              </a:defRPr>
            </a:defPPr>
            <a:lvl1pPr>
              <a:defRPr sz="1125" b="1" i="0">
                <a:solidFill>
                  <a:srgbClr val="E2E8F0"/>
                </a:solidFill>
              </a:defRPr>
            </a:lvl1pPr>
            <a:lvl2pPr>
              <a:defRPr sz="1125" b="1" i="0">
                <a:solidFill>
                  <a:srgbClr val="E2E8F0"/>
                </a:solidFill>
              </a:defRPr>
            </a:lvl2pPr>
            <a:lvl3pPr>
              <a:defRPr sz="1125" b="1" i="0">
                <a:solidFill>
                  <a:srgbClr val="E2E8F0"/>
                </a:solidFill>
              </a:defRPr>
            </a:lvl3pPr>
            <a:lvl4pPr>
              <a:defRPr sz="1125" b="1" i="0">
                <a:solidFill>
                  <a:srgbClr val="E2E8F0"/>
                </a:solidFill>
              </a:defRPr>
            </a:lvl4pPr>
            <a:lvl5pPr>
              <a:defRPr sz="1125" b="1" i="0">
                <a:solidFill>
                  <a:srgbClr val="E2E8F0"/>
                </a:solidFill>
              </a:defRPr>
            </a:lvl5pPr>
            <a:lvl6pPr>
              <a:defRPr sz="1125" b="1" i="0">
                <a:solidFill>
                  <a:srgbClr val="E2E8F0"/>
                </a:solidFill>
              </a:defRPr>
            </a:lvl6pPr>
            <a:lvl7pPr>
              <a:defRPr sz="1125" b="1" i="0">
                <a:solidFill>
                  <a:srgbClr val="E2E8F0"/>
                </a:solidFill>
              </a:defRPr>
            </a:lvl7pPr>
            <a:lvl8pPr>
              <a:defRPr sz="1125" b="1" i="0">
                <a:solidFill>
                  <a:srgbClr val="E2E8F0"/>
                </a:solidFill>
              </a:defRPr>
            </a:lvl8pPr>
            <a:lvl9pPr>
              <a:defRPr sz="1125" b="1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E2E8F0"/>
                </a:solidFill>
              </a:defRPr>
            </a:pPr>
            <a:r>
              <a:rPr sz="1125" b="1" i="0">
                <a:solidFill>
                  <a:srgbClr val="E2E8F0"/>
                </a:solidFill>
              </a:rPr>
              <a:t>Observed shelf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6B94F-C08B-4829-B922-D530125D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9775"/>
            <a:ext cx="19050" cy="3486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4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A1F5B-2076-4687-9E77-08E0FB38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4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Why this is difficult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3745C-0A64-476C-9815-E6C1FDCE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288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76108-FF41-4C44-BC73-671E6290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52675"/>
            <a:ext cx="5810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A detector can locate packaging without proving the exact catalogue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68761-85F7-4A2C-8BFC-8F10D2B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76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F0F80-6352-4F4F-8E44-0A9A6E7A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0375"/>
            <a:ext cx="5810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Rows and x-positions in pixels must align with an expected physical shelf layout.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39C67-3897-493E-9F36-12174448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24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98BEE-F65B-4838-8B59-091C628F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48075"/>
            <a:ext cx="5810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Lookalike packaging, occlusion, perspective, and low-confidence detections must remain reviewable rather than turn into false alerts.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0AE7F-8802-4178-AB0C-CBE4C872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91050"/>
            <a:ext cx="5381625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16222B"/>
          </a:solidFill>
          <a:ln xmlns:a="http://schemas.openxmlformats.org/drawingml/2006/main" w="9525">
            <a:solidFill>
              <a:srgbClr val="2842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C848D-DF85-4F31-A2BE-D8A62C1B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720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1" i="0">
                <a:solidFill>
                  <a:srgbClr val="2DD4BF"/>
                </a:solidFill>
              </a:defRPr>
            </a:defPPr>
            <a:lvl1pPr>
              <a:defRPr sz="975" b="1" i="0">
                <a:solidFill>
                  <a:srgbClr val="2DD4BF"/>
                </a:solidFill>
              </a:defRPr>
            </a:lvl1pPr>
            <a:lvl2pPr>
              <a:defRPr sz="975" b="1" i="0">
                <a:solidFill>
                  <a:srgbClr val="2DD4BF"/>
                </a:solidFill>
              </a:defRPr>
            </a:lvl2pPr>
            <a:lvl3pPr>
              <a:defRPr sz="975" b="1" i="0">
                <a:solidFill>
                  <a:srgbClr val="2DD4BF"/>
                </a:solidFill>
              </a:defRPr>
            </a:lvl3pPr>
            <a:lvl4pPr>
              <a:defRPr sz="975" b="1" i="0">
                <a:solidFill>
                  <a:srgbClr val="2DD4BF"/>
                </a:solidFill>
              </a:defRPr>
            </a:lvl4pPr>
            <a:lvl5pPr>
              <a:defRPr sz="975" b="1" i="0">
                <a:solidFill>
                  <a:srgbClr val="2DD4BF"/>
                </a:solidFill>
              </a:defRPr>
            </a:lvl5pPr>
            <a:lvl6pPr>
              <a:defRPr sz="975" b="1" i="0">
                <a:solidFill>
                  <a:srgbClr val="2DD4BF"/>
                </a:solidFill>
              </a:defRPr>
            </a:lvl6pPr>
            <a:lvl7pPr>
              <a:defRPr sz="975" b="1" i="0">
                <a:solidFill>
                  <a:srgbClr val="2DD4BF"/>
                </a:solidFill>
              </a:defRPr>
            </a:lvl7pPr>
            <a:lvl8pPr>
              <a:defRPr sz="975" b="1" i="0">
                <a:solidFill>
                  <a:srgbClr val="2DD4BF"/>
                </a:solidFill>
              </a:defRPr>
            </a:lvl8pPr>
            <a:lvl9pPr>
              <a:defRPr sz="975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75" b="1" i="0">
                <a:solidFill>
                  <a:srgbClr val="2DD4BF"/>
                </a:solidFill>
              </a:defRPr>
            </a:pPr>
            <a:r>
              <a:rPr sz="975" b="1" i="0">
                <a:solidFill>
                  <a:srgbClr val="2DD4BF"/>
                </a:solidFill>
              </a:rPr>
              <a:t>Decision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CE759-A2FA-4920-BA87-4EAFAB75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29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Claim “missing” or “misplaced” only when identity and calibrated position support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EED6E-2D2C-43DF-8C38-596BAF01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E2E31-3805-4FD2-ABA1-D8D8A0D6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03  /  16</a:t>
            </a:r>
          </a:p>
        </p:txBody>
      </p:sp>
    </p:spTree>
    <p:extLst>
      <p:ext uri="{BB962C8B-B14F-4D97-AF65-F5344CB8AC3E}">
        <p14:creationId xmlns:p14="http://schemas.microsoft.com/office/powerpoint/2010/main" val="11234402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B52696-4DC8-48A8-AD0F-FCE26E6C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E5882-50BA-4080-8C25-D6582365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Feature-status 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8FF89-5333-4668-AECE-BBE6F200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presentation separates production code, controlled-fixture evidence, and open validation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67D0C-27B9-48F5-8F1B-96CD8FBA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48013-F306-4EBB-929B-48199FAE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A8B1C1"/>
                </a:solidFill>
              </a:defRPr>
            </a:defPPr>
            <a:lvl1pPr>
              <a:defRPr sz="1125" b="1" i="0">
                <a:solidFill>
                  <a:srgbClr val="A8B1C1"/>
                </a:solidFill>
              </a:defRPr>
            </a:lvl1pPr>
            <a:lvl2pPr>
              <a:defRPr sz="1125" b="1" i="0">
                <a:solidFill>
                  <a:srgbClr val="A8B1C1"/>
                </a:solidFill>
              </a:defRPr>
            </a:lvl2pPr>
            <a:lvl3pPr>
              <a:defRPr sz="1125" b="1" i="0">
                <a:solidFill>
                  <a:srgbClr val="A8B1C1"/>
                </a:solidFill>
              </a:defRPr>
            </a:lvl3pPr>
            <a:lvl4pPr>
              <a:defRPr sz="1125" b="1" i="0">
                <a:solidFill>
                  <a:srgbClr val="A8B1C1"/>
                </a:solidFill>
              </a:defRPr>
            </a:lvl4pPr>
            <a:lvl5pPr>
              <a:defRPr sz="1125" b="1" i="0">
                <a:solidFill>
                  <a:srgbClr val="A8B1C1"/>
                </a:solidFill>
              </a:defRPr>
            </a:lvl5pPr>
            <a:lvl6pPr>
              <a:defRPr sz="1125" b="1" i="0">
                <a:solidFill>
                  <a:srgbClr val="A8B1C1"/>
                </a:solidFill>
              </a:defRPr>
            </a:lvl6pPr>
            <a:lvl7pPr>
              <a:defRPr sz="1125" b="1" i="0">
                <a:solidFill>
                  <a:srgbClr val="A8B1C1"/>
                </a:solidFill>
              </a:defRPr>
            </a:lvl7pPr>
            <a:lvl8pPr>
              <a:defRPr sz="1125" b="1" i="0">
                <a:solidFill>
                  <a:srgbClr val="A8B1C1"/>
                </a:solidFill>
              </a:defRPr>
            </a:lvl8pPr>
            <a:lvl9pPr>
              <a:defRPr sz="1125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A8B1C1"/>
                </a:solidFill>
              </a:defRPr>
            </a:pPr>
            <a:r>
              <a:rPr sz="1125" b="1" i="0">
                <a:solidFill>
                  <a:srgbClr val="A8B1C1"/>
                </a:solidFill>
              </a:rPr>
              <a:t>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D59B8-7024-438D-89BC-BB70EED5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A8B1C1"/>
                </a:solidFill>
              </a:defRPr>
            </a:defPPr>
            <a:lvl1pPr>
              <a:defRPr sz="1125" b="1" i="0">
                <a:solidFill>
                  <a:srgbClr val="A8B1C1"/>
                </a:solidFill>
              </a:defRPr>
            </a:lvl1pPr>
            <a:lvl2pPr>
              <a:defRPr sz="1125" b="1" i="0">
                <a:solidFill>
                  <a:srgbClr val="A8B1C1"/>
                </a:solidFill>
              </a:defRPr>
            </a:lvl2pPr>
            <a:lvl3pPr>
              <a:defRPr sz="1125" b="1" i="0">
                <a:solidFill>
                  <a:srgbClr val="A8B1C1"/>
                </a:solidFill>
              </a:defRPr>
            </a:lvl3pPr>
            <a:lvl4pPr>
              <a:defRPr sz="1125" b="1" i="0">
                <a:solidFill>
                  <a:srgbClr val="A8B1C1"/>
                </a:solidFill>
              </a:defRPr>
            </a:lvl4pPr>
            <a:lvl5pPr>
              <a:defRPr sz="1125" b="1" i="0">
                <a:solidFill>
                  <a:srgbClr val="A8B1C1"/>
                </a:solidFill>
              </a:defRPr>
            </a:lvl5pPr>
            <a:lvl6pPr>
              <a:defRPr sz="1125" b="1" i="0">
                <a:solidFill>
                  <a:srgbClr val="A8B1C1"/>
                </a:solidFill>
              </a:defRPr>
            </a:lvl6pPr>
            <a:lvl7pPr>
              <a:defRPr sz="1125" b="1" i="0">
                <a:solidFill>
                  <a:srgbClr val="A8B1C1"/>
                </a:solidFill>
              </a:defRPr>
            </a:lvl7pPr>
            <a:lvl8pPr>
              <a:defRPr sz="1125" b="1" i="0">
                <a:solidFill>
                  <a:srgbClr val="A8B1C1"/>
                </a:solidFill>
              </a:defRPr>
            </a:lvl8pPr>
            <a:lvl9pPr>
              <a:defRPr sz="1125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A8B1C1"/>
                </a:solidFill>
              </a:defRPr>
            </a:pPr>
            <a:r>
              <a:rPr sz="1125" b="1" i="0">
                <a:solidFill>
                  <a:srgbClr val="A8B1C1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452EA-CE5D-48A1-BF89-F5D437C7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857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A8B1C1"/>
                </a:solidFill>
              </a:defRPr>
            </a:defPPr>
            <a:lvl1pPr>
              <a:defRPr sz="1125" b="1" i="0">
                <a:solidFill>
                  <a:srgbClr val="A8B1C1"/>
                </a:solidFill>
              </a:defRPr>
            </a:lvl1pPr>
            <a:lvl2pPr>
              <a:defRPr sz="1125" b="1" i="0">
                <a:solidFill>
                  <a:srgbClr val="A8B1C1"/>
                </a:solidFill>
              </a:defRPr>
            </a:lvl2pPr>
            <a:lvl3pPr>
              <a:defRPr sz="1125" b="1" i="0">
                <a:solidFill>
                  <a:srgbClr val="A8B1C1"/>
                </a:solidFill>
              </a:defRPr>
            </a:lvl3pPr>
            <a:lvl4pPr>
              <a:defRPr sz="1125" b="1" i="0">
                <a:solidFill>
                  <a:srgbClr val="A8B1C1"/>
                </a:solidFill>
              </a:defRPr>
            </a:lvl4pPr>
            <a:lvl5pPr>
              <a:defRPr sz="1125" b="1" i="0">
                <a:solidFill>
                  <a:srgbClr val="A8B1C1"/>
                </a:solidFill>
              </a:defRPr>
            </a:lvl5pPr>
            <a:lvl6pPr>
              <a:defRPr sz="1125" b="1" i="0">
                <a:solidFill>
                  <a:srgbClr val="A8B1C1"/>
                </a:solidFill>
              </a:defRPr>
            </a:lvl6pPr>
            <a:lvl7pPr>
              <a:defRPr sz="1125" b="1" i="0">
                <a:solidFill>
                  <a:srgbClr val="A8B1C1"/>
                </a:solidFill>
              </a:defRPr>
            </a:lvl7pPr>
            <a:lvl8pPr>
              <a:defRPr sz="1125" b="1" i="0">
                <a:solidFill>
                  <a:srgbClr val="A8B1C1"/>
                </a:solidFill>
              </a:defRPr>
            </a:lvl8pPr>
            <a:lvl9pPr>
              <a:defRPr sz="1125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A8B1C1"/>
                </a:solidFill>
              </a:defRPr>
            </a:pPr>
            <a:r>
              <a:rPr sz="1125" b="1" i="0">
                <a:solidFill>
                  <a:srgbClr val="A8B1C1"/>
                </a:solidFill>
              </a:rPr>
              <a:t>Evidence / caveat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054EA-EE7A-4926-B628-543C4D81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968B1-26B5-44E5-894A-9CBF7AB5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6634D-E6D3-4C4C-AF40-FF84ADE8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Planogram designer and cm-based placement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80159-B6B2-46F0-99D4-DD2BE234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6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852C3-2CDB-47DB-81F3-7A942794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Implemented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9EC40-7C0D-4510-A522-3789D912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622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FastAPI, SQLite, Next.js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D2A34-E469-436E-BE6C-62F5B53F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YOLO product, empty-space and row parsing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6513E-02AC-447A-9B1B-BAE327E3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860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6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39A81-FA36-4D3C-B1F2-F55FE3AE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84060-6D4C-453F-9E18-5D7AB63D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956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Weights and inference pipeline present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381DC-D436-44D5-B8A7-BD286349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F0D35-900F-49B7-A05A-CB0EF422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Cutouts, shelf-scoped CLIP matching, cluster consensus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27AA7-204F-4EDA-B914-40B72E4B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194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6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7F0AD-7FB6-4197-89A4-4327CFD6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Implemented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2F2F1-7496-4579-A066-B768815D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290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Thresholds remain provisional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5A799-5447-45FA-989E-C4A379FC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Row/x-coordinate mapping and audit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AA2D1C-B6AB-403A-B22F-BE7448D2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528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6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69A2C2-C774-49D1-A384-C0F8BAAC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Implemented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53AFA-A17B-4A79-8A6E-BCB9F5B4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624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Controlled fixture covered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24EAD2-6427-4E03-8A9F-F399DA74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6E2B9-7CA9-4F9A-8B05-8EFBD8B9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F8FAFC"/>
                </a:solidFill>
              </a:defRPr>
            </a:defPPr>
            <a:lvl1pPr>
              <a:defRPr sz="1200" b="0" i="0">
                <a:solidFill>
                  <a:srgbClr val="F8FAFC"/>
                </a:solidFill>
              </a:defRPr>
            </a:lvl1pPr>
            <a:lvl2pPr>
              <a:defRPr sz="1200" b="0" i="0">
                <a:solidFill>
                  <a:srgbClr val="F8FAFC"/>
                </a:solidFill>
              </a:defRPr>
            </a:lvl2pPr>
            <a:lvl3pPr>
              <a:defRPr sz="1200" b="0" i="0">
                <a:solidFill>
                  <a:srgbClr val="F8FAFC"/>
                </a:solidFill>
              </a:defRPr>
            </a:lvl3pPr>
            <a:lvl4pPr>
              <a:defRPr sz="1200" b="0" i="0">
                <a:solidFill>
                  <a:srgbClr val="F8FAFC"/>
                </a:solidFill>
              </a:defRPr>
            </a:lvl4pPr>
            <a:lvl5pPr>
              <a:defRPr sz="1200" b="0" i="0">
                <a:solidFill>
                  <a:srgbClr val="F8FAFC"/>
                </a:solidFill>
              </a:defRPr>
            </a:lvl5pPr>
            <a:lvl6pPr>
              <a:defRPr sz="1200" b="0" i="0">
                <a:solidFill>
                  <a:srgbClr val="F8FAFC"/>
                </a:solidFill>
              </a:defRPr>
            </a:lvl6pPr>
            <a:lvl7pPr>
              <a:defRPr sz="1200" b="0" i="0">
                <a:solidFill>
                  <a:srgbClr val="F8FAFC"/>
                </a:solidFill>
              </a:defRPr>
            </a:lvl7pPr>
            <a:lvl8pPr>
              <a:defRPr sz="1200" b="0" i="0">
                <a:solidFill>
                  <a:srgbClr val="F8FAFC"/>
                </a:solidFill>
              </a:defRPr>
            </a:lvl8pPr>
            <a:lvl9pPr>
              <a:defRPr sz="120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F8FAFC"/>
                </a:solidFill>
              </a:defRPr>
            </a:pPr>
            <a:r>
              <a:rPr sz="1200" b="0" i="0">
                <a:solidFill>
                  <a:srgbClr val="F8FAFC"/>
                </a:solidFill>
              </a:rPr>
              <a:t>OCR price-label flow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7C8EB9-8B1A-45A6-BE82-4FF0CCC5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86275"/>
            <a:ext cx="148590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A30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DFBE8-57FF-45E3-BC4F-83C193A7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F59E0B"/>
                </a:solidFill>
              </a:defRPr>
            </a:defPPr>
            <a:lvl1pPr>
              <a:defRPr sz="825" b="1" i="0">
                <a:solidFill>
                  <a:srgbClr val="F59E0B"/>
                </a:solidFill>
              </a:defRPr>
            </a:lvl1pPr>
            <a:lvl2pPr>
              <a:defRPr sz="825" b="1" i="0">
                <a:solidFill>
                  <a:srgbClr val="F59E0B"/>
                </a:solidFill>
              </a:defRPr>
            </a:lvl2pPr>
            <a:lvl3pPr>
              <a:defRPr sz="825" b="1" i="0">
                <a:solidFill>
                  <a:srgbClr val="F59E0B"/>
                </a:solidFill>
              </a:defRPr>
            </a:lvl3pPr>
            <a:lvl4pPr>
              <a:defRPr sz="825" b="1" i="0">
                <a:solidFill>
                  <a:srgbClr val="F59E0B"/>
                </a:solidFill>
              </a:defRPr>
            </a:lvl4pPr>
            <a:lvl5pPr>
              <a:defRPr sz="825" b="1" i="0">
                <a:solidFill>
                  <a:srgbClr val="F59E0B"/>
                </a:solidFill>
              </a:defRPr>
            </a:lvl5pPr>
            <a:lvl6pPr>
              <a:defRPr sz="825" b="1" i="0">
                <a:solidFill>
                  <a:srgbClr val="F59E0B"/>
                </a:solidFill>
              </a:defRPr>
            </a:lvl6pPr>
            <a:lvl7pPr>
              <a:defRPr sz="825" b="1" i="0">
                <a:solidFill>
                  <a:srgbClr val="F59E0B"/>
                </a:solidFill>
              </a:defRPr>
            </a:lvl7pPr>
            <a:lvl8pPr>
              <a:defRPr sz="825" b="1" i="0">
                <a:solidFill>
                  <a:srgbClr val="F59E0B"/>
                </a:solidFill>
              </a:defRPr>
            </a:lvl8pPr>
            <a:lvl9pPr>
              <a:defRPr sz="82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F59E0B"/>
                </a:solidFill>
              </a:defRPr>
            </a:pPr>
            <a:r>
              <a:rPr sz="825" b="1" i="0">
                <a:solidFill>
                  <a:srgbClr val="F59E0B"/>
                </a:solidFill>
              </a:rPr>
              <a:t>Implemented adapter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A36C17-4D8F-42DA-B4D0-9D5A5117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4958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Runtime smoke check, accuracy unevaluated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7C4DA1-C101-4A9F-AF58-84E500BA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F8FAFC"/>
                </a:solidFill>
              </a:defRPr>
            </a:defPPr>
            <a:lvl1pPr>
              <a:defRPr sz="1200" b="0" i="0">
                <a:solidFill>
                  <a:srgbClr val="F8FAFC"/>
                </a:solidFill>
              </a:defRPr>
            </a:lvl1pPr>
            <a:lvl2pPr>
              <a:defRPr sz="1200" b="0" i="0">
                <a:solidFill>
                  <a:srgbClr val="F8FAFC"/>
                </a:solidFill>
              </a:defRPr>
            </a:lvl2pPr>
            <a:lvl3pPr>
              <a:defRPr sz="1200" b="0" i="0">
                <a:solidFill>
                  <a:srgbClr val="F8FAFC"/>
                </a:solidFill>
              </a:defRPr>
            </a:lvl3pPr>
            <a:lvl4pPr>
              <a:defRPr sz="1200" b="0" i="0">
                <a:solidFill>
                  <a:srgbClr val="F8FAFC"/>
                </a:solidFill>
              </a:defRPr>
            </a:lvl4pPr>
            <a:lvl5pPr>
              <a:defRPr sz="1200" b="0" i="0">
                <a:solidFill>
                  <a:srgbClr val="F8FAFC"/>
                </a:solidFill>
              </a:defRPr>
            </a:lvl5pPr>
            <a:lvl6pPr>
              <a:defRPr sz="1200" b="0" i="0">
                <a:solidFill>
                  <a:srgbClr val="F8FAFC"/>
                </a:solidFill>
              </a:defRPr>
            </a:lvl6pPr>
            <a:lvl7pPr>
              <a:defRPr sz="1200" b="0" i="0">
                <a:solidFill>
                  <a:srgbClr val="F8FAFC"/>
                </a:solidFill>
              </a:defRPr>
            </a:lvl7pPr>
            <a:lvl8pPr>
              <a:defRPr sz="1200" b="0" i="0">
                <a:solidFill>
                  <a:srgbClr val="F8FAFC"/>
                </a:solidFill>
              </a:defRPr>
            </a:lvl8pPr>
            <a:lvl9pPr>
              <a:defRPr sz="120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F8FAFC"/>
                </a:solidFill>
              </a:defRPr>
            </a:pPr>
            <a:r>
              <a:rPr sz="1200" b="0" i="0">
                <a:solidFill>
                  <a:srgbClr val="F8FAFC"/>
                </a:solidFill>
              </a:rPr>
              <a:t>YOLO product training / mAP evaluation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B6C4F-0F88-48FD-BC45-2B458767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96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A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0C31E7-1FF1-4ED5-8FBF-A338C51A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FB7185"/>
                </a:solidFill>
              </a:defRPr>
            </a:defPPr>
            <a:lvl1pPr>
              <a:defRPr sz="825" b="1" i="0">
                <a:solidFill>
                  <a:srgbClr val="FB7185"/>
                </a:solidFill>
              </a:defRPr>
            </a:lvl1pPr>
            <a:lvl2pPr>
              <a:defRPr sz="825" b="1" i="0">
                <a:solidFill>
                  <a:srgbClr val="FB7185"/>
                </a:solidFill>
              </a:defRPr>
            </a:lvl2pPr>
            <a:lvl3pPr>
              <a:defRPr sz="825" b="1" i="0">
                <a:solidFill>
                  <a:srgbClr val="FB7185"/>
                </a:solidFill>
              </a:defRPr>
            </a:lvl3pPr>
            <a:lvl4pPr>
              <a:defRPr sz="825" b="1" i="0">
                <a:solidFill>
                  <a:srgbClr val="FB7185"/>
                </a:solidFill>
              </a:defRPr>
            </a:lvl4pPr>
            <a:lvl5pPr>
              <a:defRPr sz="825" b="1" i="0">
                <a:solidFill>
                  <a:srgbClr val="FB7185"/>
                </a:solidFill>
              </a:defRPr>
            </a:lvl5pPr>
            <a:lvl6pPr>
              <a:defRPr sz="825" b="1" i="0">
                <a:solidFill>
                  <a:srgbClr val="FB7185"/>
                </a:solidFill>
              </a:defRPr>
            </a:lvl6pPr>
            <a:lvl7pPr>
              <a:defRPr sz="825" b="1" i="0">
                <a:solidFill>
                  <a:srgbClr val="FB7185"/>
                </a:solidFill>
              </a:defRPr>
            </a:lvl7pPr>
            <a:lvl8pPr>
              <a:defRPr sz="825" b="1" i="0">
                <a:solidFill>
                  <a:srgbClr val="FB7185"/>
                </a:solidFill>
              </a:defRPr>
            </a:lvl8pPr>
            <a:lvl9pPr>
              <a:defRPr sz="825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FB7185"/>
                </a:solidFill>
              </a:defRPr>
            </a:pPr>
            <a:r>
              <a:rPr sz="825" b="1" i="0">
                <a:solidFill>
                  <a:srgbClr val="FB7185"/>
                </a:solidFill>
              </a:rPr>
              <a:t>Not evidenced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6309AF-85D3-4D32-B711-54000369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0292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No training result claimed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451C24-6F28-4909-8EC0-10E1A0B2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6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6F49DD-EF55-4835-ADAD-ED4A9738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F8FAFC"/>
                </a:solidFill>
              </a:defRPr>
            </a:defPPr>
            <a:lvl1pPr>
              <a:defRPr sz="1200" b="0" i="0">
                <a:solidFill>
                  <a:srgbClr val="F8FAFC"/>
                </a:solidFill>
              </a:defRPr>
            </a:lvl1pPr>
            <a:lvl2pPr>
              <a:defRPr sz="1200" b="0" i="0">
                <a:solidFill>
                  <a:srgbClr val="F8FAFC"/>
                </a:solidFill>
              </a:defRPr>
            </a:lvl2pPr>
            <a:lvl3pPr>
              <a:defRPr sz="1200" b="0" i="0">
                <a:solidFill>
                  <a:srgbClr val="F8FAFC"/>
                </a:solidFill>
              </a:defRPr>
            </a:lvl3pPr>
            <a:lvl4pPr>
              <a:defRPr sz="1200" b="0" i="0">
                <a:solidFill>
                  <a:srgbClr val="F8FAFC"/>
                </a:solidFill>
              </a:defRPr>
            </a:lvl4pPr>
            <a:lvl5pPr>
              <a:defRPr sz="1200" b="0" i="0">
                <a:solidFill>
                  <a:srgbClr val="F8FAFC"/>
                </a:solidFill>
              </a:defRPr>
            </a:lvl5pPr>
            <a:lvl6pPr>
              <a:defRPr sz="1200" b="0" i="0">
                <a:solidFill>
                  <a:srgbClr val="F8FAFC"/>
                </a:solidFill>
              </a:defRPr>
            </a:lvl6pPr>
            <a:lvl7pPr>
              <a:defRPr sz="1200" b="0" i="0">
                <a:solidFill>
                  <a:srgbClr val="F8FAFC"/>
                </a:solidFill>
              </a:defRPr>
            </a:lvl7pPr>
            <a:lvl8pPr>
              <a:defRPr sz="1200" b="0" i="0">
                <a:solidFill>
                  <a:srgbClr val="F8FAFC"/>
                </a:solidFill>
              </a:defRPr>
            </a:lvl8pPr>
            <a:lvl9pPr>
              <a:defRPr sz="120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F8FAFC"/>
                </a:solidFill>
              </a:defRPr>
            </a:pPr>
            <a:r>
              <a:rPr sz="1200" b="0" i="0">
                <a:solidFill>
                  <a:srgbClr val="F8FAFC"/>
                </a:solidFill>
              </a:rPr>
              <a:t>Variant-level accuracy calibration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57E4DE-EB49-48F0-9320-84135EB0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53075"/>
            <a:ext cx="12382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A2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45B162-028A-4139-B05F-74EF7B3C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FB7185"/>
                </a:solidFill>
              </a:defRPr>
            </a:defPPr>
            <a:lvl1pPr>
              <a:defRPr sz="825" b="1" i="0">
                <a:solidFill>
                  <a:srgbClr val="FB7185"/>
                </a:solidFill>
              </a:defRPr>
            </a:lvl1pPr>
            <a:lvl2pPr>
              <a:defRPr sz="825" b="1" i="0">
                <a:solidFill>
                  <a:srgbClr val="FB7185"/>
                </a:solidFill>
              </a:defRPr>
            </a:lvl2pPr>
            <a:lvl3pPr>
              <a:defRPr sz="825" b="1" i="0">
                <a:solidFill>
                  <a:srgbClr val="FB7185"/>
                </a:solidFill>
              </a:defRPr>
            </a:lvl3pPr>
            <a:lvl4pPr>
              <a:defRPr sz="825" b="1" i="0">
                <a:solidFill>
                  <a:srgbClr val="FB7185"/>
                </a:solidFill>
              </a:defRPr>
            </a:lvl4pPr>
            <a:lvl5pPr>
              <a:defRPr sz="825" b="1" i="0">
                <a:solidFill>
                  <a:srgbClr val="FB7185"/>
                </a:solidFill>
              </a:defRPr>
            </a:lvl5pPr>
            <a:lvl6pPr>
              <a:defRPr sz="825" b="1" i="0">
                <a:solidFill>
                  <a:srgbClr val="FB7185"/>
                </a:solidFill>
              </a:defRPr>
            </a:lvl6pPr>
            <a:lvl7pPr>
              <a:defRPr sz="825" b="1" i="0">
                <a:solidFill>
                  <a:srgbClr val="FB7185"/>
                </a:solidFill>
              </a:defRPr>
            </a:lvl7pPr>
            <a:lvl8pPr>
              <a:defRPr sz="825" b="1" i="0">
                <a:solidFill>
                  <a:srgbClr val="FB7185"/>
                </a:solidFill>
              </a:defRPr>
            </a:lvl8pPr>
            <a:lvl9pPr>
              <a:defRPr sz="825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FB7185"/>
                </a:solidFill>
              </a:defRPr>
            </a:pPr>
            <a:r>
              <a:rPr sz="825" b="1" i="0">
                <a:solidFill>
                  <a:srgbClr val="FB7185"/>
                </a:solidFill>
              </a:rPr>
              <a:t>Open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C40612-59C5-4DE6-939C-CC607DC4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5626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Needs labelled crops and shelf fixtures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B0E267-A348-4E48-849A-EE5F4903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97DB79-FEA1-41B3-B4AD-DDA7031E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04  /  16</a:t>
            </a:r>
          </a:p>
        </p:txBody>
      </p:sp>
    </p:spTree>
    <p:extLst>
      <p:ext uri="{BB962C8B-B14F-4D97-AF65-F5344CB8AC3E}">
        <p14:creationId xmlns:p14="http://schemas.microsoft.com/office/powerpoint/2010/main" val="12094557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E85606-E013-4E20-8F2D-63AEC687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50BDE-CEC1-468C-8DC6-2A5FCDC2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End-to-end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FCD99-3F8F-4B37-8526-A4DFFFD7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Actual source modules appear below each stage. Orange labels identify evidence gates or provisional thresholds.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5092E-17F8-4F71-B908-8379ECB1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BF276-6F53-466F-AABD-EE68B3AA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B4882-2BEC-418A-9D26-04967412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Planogram</a:t>
            </a:r>
          </a:p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+ shelf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CBF64-0205-47BE-BE1B-AE1BAF4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Designer + 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56F4A-AF32-4D23-9E30-9ABE2C4C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19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80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F0674-2BD3-49AC-B3BD-C6F21BF0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028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 i="0">
                <a:solidFill>
                  <a:srgbClr val="2DD4BF"/>
                </a:solidFill>
              </a:defRPr>
            </a:defPPr>
            <a:lvl1pPr>
              <a:defRPr sz="1950" b="1" i="0">
                <a:solidFill>
                  <a:srgbClr val="2DD4BF"/>
                </a:solidFill>
              </a:defRPr>
            </a:lvl1pPr>
            <a:lvl2pPr>
              <a:defRPr sz="1950" b="1" i="0">
                <a:solidFill>
                  <a:srgbClr val="2DD4BF"/>
                </a:solidFill>
              </a:defRPr>
            </a:lvl2pPr>
            <a:lvl3pPr>
              <a:defRPr sz="1950" b="1" i="0">
                <a:solidFill>
                  <a:srgbClr val="2DD4BF"/>
                </a:solidFill>
              </a:defRPr>
            </a:lvl3pPr>
            <a:lvl4pPr>
              <a:defRPr sz="1950" b="1" i="0">
                <a:solidFill>
                  <a:srgbClr val="2DD4BF"/>
                </a:solidFill>
              </a:defRPr>
            </a:lvl4pPr>
            <a:lvl5pPr>
              <a:defRPr sz="1950" b="1" i="0">
                <a:solidFill>
                  <a:srgbClr val="2DD4BF"/>
                </a:solidFill>
              </a:defRPr>
            </a:lvl5pPr>
            <a:lvl6pPr>
              <a:defRPr sz="1950" b="1" i="0">
                <a:solidFill>
                  <a:srgbClr val="2DD4BF"/>
                </a:solidFill>
              </a:defRPr>
            </a:lvl6pPr>
            <a:lvl7pPr>
              <a:defRPr sz="1950" b="1" i="0">
                <a:solidFill>
                  <a:srgbClr val="2DD4BF"/>
                </a:solidFill>
              </a:defRPr>
            </a:lvl7pPr>
            <a:lvl8pPr>
              <a:defRPr sz="1950" b="1" i="0">
                <a:solidFill>
                  <a:srgbClr val="2DD4BF"/>
                </a:solidFill>
              </a:defRPr>
            </a:lvl8pPr>
            <a:lvl9pPr>
              <a:defRPr sz="19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2DD4BF"/>
                </a:solidFill>
              </a:defRPr>
            </a:pPr>
            <a:r>
              <a:rPr sz="1950" b="1" i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3DE82-C861-44E8-B650-135E3D91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0E3C6-AFBA-4797-B398-B50A8554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Shelf photo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A200D-D097-4DBC-9834-8C4FAC64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Input image job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90FCD-DC72-48FA-BC72-FDD6AFB9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809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DE022-4487-45F9-B9BA-781AA55C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028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 i="0">
                <a:solidFill>
                  <a:srgbClr val="2DD4BF"/>
                </a:solidFill>
              </a:defRPr>
            </a:defPPr>
            <a:lvl1pPr>
              <a:defRPr sz="1950" b="1" i="0">
                <a:solidFill>
                  <a:srgbClr val="2DD4BF"/>
                </a:solidFill>
              </a:defRPr>
            </a:lvl1pPr>
            <a:lvl2pPr>
              <a:defRPr sz="1950" b="1" i="0">
                <a:solidFill>
                  <a:srgbClr val="2DD4BF"/>
                </a:solidFill>
              </a:defRPr>
            </a:lvl2pPr>
            <a:lvl3pPr>
              <a:defRPr sz="1950" b="1" i="0">
                <a:solidFill>
                  <a:srgbClr val="2DD4BF"/>
                </a:solidFill>
              </a:defRPr>
            </a:lvl3pPr>
            <a:lvl4pPr>
              <a:defRPr sz="1950" b="1" i="0">
                <a:solidFill>
                  <a:srgbClr val="2DD4BF"/>
                </a:solidFill>
              </a:defRPr>
            </a:lvl4pPr>
            <a:lvl5pPr>
              <a:defRPr sz="1950" b="1" i="0">
                <a:solidFill>
                  <a:srgbClr val="2DD4BF"/>
                </a:solidFill>
              </a:defRPr>
            </a:lvl5pPr>
            <a:lvl6pPr>
              <a:defRPr sz="1950" b="1" i="0">
                <a:solidFill>
                  <a:srgbClr val="2DD4BF"/>
                </a:solidFill>
              </a:defRPr>
            </a:lvl6pPr>
            <a:lvl7pPr>
              <a:defRPr sz="1950" b="1" i="0">
                <a:solidFill>
                  <a:srgbClr val="2DD4BF"/>
                </a:solidFill>
              </a:defRPr>
            </a:lvl7pPr>
            <a:lvl8pPr>
              <a:defRPr sz="1950" b="1" i="0">
                <a:solidFill>
                  <a:srgbClr val="2DD4BF"/>
                </a:solidFill>
              </a:defRPr>
            </a:lvl8pPr>
            <a:lvl9pPr>
              <a:defRPr sz="19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2DD4BF"/>
                </a:solidFill>
              </a:defRPr>
            </a:pPr>
            <a:r>
              <a:rPr sz="1950" b="1" i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B7166-6417-44BE-8992-FA2C6348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CC0A7-A493-4418-8FDF-5424AB3A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YOLO parse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68C31-F1DB-477B-B330-ED4341F2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Rows, products, empty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9FB3E-3EC8-47E2-8C46-15EDA530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19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809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4CA7A-38A8-4DE1-9DAE-9B01F492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28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 i="0">
                <a:solidFill>
                  <a:srgbClr val="2DD4BF"/>
                </a:solidFill>
              </a:defRPr>
            </a:defPPr>
            <a:lvl1pPr>
              <a:defRPr sz="1950" b="1" i="0">
                <a:solidFill>
                  <a:srgbClr val="2DD4BF"/>
                </a:solidFill>
              </a:defRPr>
            </a:lvl1pPr>
            <a:lvl2pPr>
              <a:defRPr sz="1950" b="1" i="0">
                <a:solidFill>
                  <a:srgbClr val="2DD4BF"/>
                </a:solidFill>
              </a:defRPr>
            </a:lvl2pPr>
            <a:lvl3pPr>
              <a:defRPr sz="1950" b="1" i="0">
                <a:solidFill>
                  <a:srgbClr val="2DD4BF"/>
                </a:solidFill>
              </a:defRPr>
            </a:lvl3pPr>
            <a:lvl4pPr>
              <a:defRPr sz="1950" b="1" i="0">
                <a:solidFill>
                  <a:srgbClr val="2DD4BF"/>
                </a:solidFill>
              </a:defRPr>
            </a:lvl4pPr>
            <a:lvl5pPr>
              <a:defRPr sz="1950" b="1" i="0">
                <a:solidFill>
                  <a:srgbClr val="2DD4BF"/>
                </a:solidFill>
              </a:defRPr>
            </a:lvl5pPr>
            <a:lvl6pPr>
              <a:defRPr sz="1950" b="1" i="0">
                <a:solidFill>
                  <a:srgbClr val="2DD4BF"/>
                </a:solidFill>
              </a:defRPr>
            </a:lvl6pPr>
            <a:lvl7pPr>
              <a:defRPr sz="1950" b="1" i="0">
                <a:solidFill>
                  <a:srgbClr val="2DD4BF"/>
                </a:solidFill>
              </a:defRPr>
            </a:lvl7pPr>
            <a:lvl8pPr>
              <a:defRPr sz="1950" b="1" i="0">
                <a:solidFill>
                  <a:srgbClr val="2DD4BF"/>
                </a:solidFill>
              </a:defRPr>
            </a:lvl8pPr>
            <a:lvl9pPr>
              <a:defRPr sz="19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2DD4BF"/>
                </a:solidFill>
              </a:defRPr>
            </a:pPr>
            <a:r>
              <a:rPr sz="1950" b="1" i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F4ED5-AD89-4586-BE9C-BA588BF9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8CF45-72C3-43B6-A60A-531AE903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Cutouts + 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62AAE-9D87-47A2-840A-3C145273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Color gate + CLIP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9D5D2-1E41-415D-AD16-6EF56DB2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809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8182E-9CFA-4080-A35F-E519C98C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28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 i="0">
                <a:solidFill>
                  <a:srgbClr val="2DD4BF"/>
                </a:solidFill>
              </a:defRPr>
            </a:defPPr>
            <a:lvl1pPr>
              <a:defRPr sz="1950" b="1" i="0">
                <a:solidFill>
                  <a:srgbClr val="2DD4BF"/>
                </a:solidFill>
              </a:defRPr>
            </a:lvl1pPr>
            <a:lvl2pPr>
              <a:defRPr sz="1950" b="1" i="0">
                <a:solidFill>
                  <a:srgbClr val="2DD4BF"/>
                </a:solidFill>
              </a:defRPr>
            </a:lvl2pPr>
            <a:lvl3pPr>
              <a:defRPr sz="1950" b="1" i="0">
                <a:solidFill>
                  <a:srgbClr val="2DD4BF"/>
                </a:solidFill>
              </a:defRPr>
            </a:lvl3pPr>
            <a:lvl4pPr>
              <a:defRPr sz="1950" b="1" i="0">
                <a:solidFill>
                  <a:srgbClr val="2DD4BF"/>
                </a:solidFill>
              </a:defRPr>
            </a:lvl4pPr>
            <a:lvl5pPr>
              <a:defRPr sz="1950" b="1" i="0">
                <a:solidFill>
                  <a:srgbClr val="2DD4BF"/>
                </a:solidFill>
              </a:defRPr>
            </a:lvl5pPr>
            <a:lvl6pPr>
              <a:defRPr sz="1950" b="1" i="0">
                <a:solidFill>
                  <a:srgbClr val="2DD4BF"/>
                </a:solidFill>
              </a:defRPr>
            </a:lvl6pPr>
            <a:lvl7pPr>
              <a:defRPr sz="1950" b="1" i="0">
                <a:solidFill>
                  <a:srgbClr val="2DD4BF"/>
                </a:solidFill>
              </a:defRPr>
            </a:lvl7pPr>
            <a:lvl8pPr>
              <a:defRPr sz="1950" b="1" i="0">
                <a:solidFill>
                  <a:srgbClr val="2DD4BF"/>
                </a:solidFill>
              </a:defRPr>
            </a:lvl8pPr>
            <a:lvl9pPr>
              <a:defRPr sz="19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2DD4BF"/>
                </a:solidFill>
              </a:defRPr>
            </a:pPr>
            <a:r>
              <a:rPr sz="1950" b="1" i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072E6-A216-48F1-A132-046E9300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20D565-6229-42C4-B148-016393AA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Map to cm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B41D2-6C2D-4656-A749-A13EFC4B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Rows + x-span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A20FF0-9A51-4B8F-8780-2F7C2585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194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809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09622-C47E-48FA-A78B-F4C654E4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0289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 i="0">
                <a:solidFill>
                  <a:srgbClr val="2DD4BF"/>
                </a:solidFill>
              </a:defRPr>
            </a:defPPr>
            <a:lvl1pPr>
              <a:defRPr sz="1950" b="1" i="0">
                <a:solidFill>
                  <a:srgbClr val="2DD4BF"/>
                </a:solidFill>
              </a:defRPr>
            </a:lvl1pPr>
            <a:lvl2pPr>
              <a:defRPr sz="1950" b="1" i="0">
                <a:solidFill>
                  <a:srgbClr val="2DD4BF"/>
                </a:solidFill>
              </a:defRPr>
            </a:lvl2pPr>
            <a:lvl3pPr>
              <a:defRPr sz="1950" b="1" i="0">
                <a:solidFill>
                  <a:srgbClr val="2DD4BF"/>
                </a:solidFill>
              </a:defRPr>
            </a:lvl3pPr>
            <a:lvl4pPr>
              <a:defRPr sz="1950" b="1" i="0">
                <a:solidFill>
                  <a:srgbClr val="2DD4BF"/>
                </a:solidFill>
              </a:defRPr>
            </a:lvl4pPr>
            <a:lvl5pPr>
              <a:defRPr sz="1950" b="1" i="0">
                <a:solidFill>
                  <a:srgbClr val="2DD4BF"/>
                </a:solidFill>
              </a:defRPr>
            </a:lvl5pPr>
            <a:lvl6pPr>
              <a:defRPr sz="1950" b="1" i="0">
                <a:solidFill>
                  <a:srgbClr val="2DD4BF"/>
                </a:solidFill>
              </a:defRPr>
            </a:lvl6pPr>
            <a:lvl7pPr>
              <a:defRPr sz="1950" b="1" i="0">
                <a:solidFill>
                  <a:srgbClr val="2DD4BF"/>
                </a:solidFill>
              </a:defRPr>
            </a:lvl7pPr>
            <a:lvl8pPr>
              <a:defRPr sz="1950" b="1" i="0">
                <a:solidFill>
                  <a:srgbClr val="2DD4BF"/>
                </a:solidFill>
              </a:defRPr>
            </a:lvl8pPr>
            <a:lvl9pPr>
              <a:defRPr sz="19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2DD4BF"/>
                </a:solidFill>
              </a:defRPr>
            </a:pPr>
            <a:r>
              <a:rPr sz="1950" b="1" i="0">
                <a:solidFill>
                  <a:srgbClr val="2DD4BF"/>
                </a:solidFill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BDC2D1-0CF4-4E37-852F-4234C0E1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52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89F385-43D4-493B-947B-705E99A3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575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Audit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B4D4F3-9F27-45DB-8825-EEEA7A55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71850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Findings +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A577A0-1413-4EE1-BCD3-91C2CF3A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planogram_service.py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E6E127-1B61-4E5D-B69A-8F06F1FC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image_processing_service.py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F1C6CF-F9CD-43BD-A56F-D22D74A0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pipeline.py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356FF8-D0A6-4EE8-8348-22DC0756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cutout_service.py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A7C02B-2FE1-4CFA-9E77-6DE6A04E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position_calibration.py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11620-0E2A-4777-AC9E-DC7F0E7F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814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708097"/>
                </a:solidFill>
              </a:defRPr>
            </a:defPPr>
            <a:lvl1pPr>
              <a:defRPr sz="900" b="0" i="0">
                <a:solidFill>
                  <a:srgbClr val="708097"/>
                </a:solidFill>
              </a:defRPr>
            </a:lvl1pPr>
            <a:lvl2pPr>
              <a:defRPr sz="900" b="0" i="0">
                <a:solidFill>
                  <a:srgbClr val="708097"/>
                </a:solidFill>
              </a:defRPr>
            </a:lvl2pPr>
            <a:lvl3pPr>
              <a:defRPr sz="900" b="0" i="0">
                <a:solidFill>
                  <a:srgbClr val="708097"/>
                </a:solidFill>
              </a:defRPr>
            </a:lvl3pPr>
            <a:lvl4pPr>
              <a:defRPr sz="900" b="0" i="0">
                <a:solidFill>
                  <a:srgbClr val="708097"/>
                </a:solidFill>
              </a:defRPr>
            </a:lvl4pPr>
            <a:lvl5pPr>
              <a:defRPr sz="900" b="0" i="0">
                <a:solidFill>
                  <a:srgbClr val="708097"/>
                </a:solidFill>
              </a:defRPr>
            </a:lvl5pPr>
            <a:lvl6pPr>
              <a:defRPr sz="900" b="0" i="0">
                <a:solidFill>
                  <a:srgbClr val="708097"/>
                </a:solidFill>
              </a:defRPr>
            </a:lvl6pPr>
            <a:lvl7pPr>
              <a:defRPr sz="900" b="0" i="0">
                <a:solidFill>
                  <a:srgbClr val="708097"/>
                </a:solidFill>
              </a:defRPr>
            </a:lvl7pPr>
            <a:lvl8pPr>
              <a:defRPr sz="900" b="0" i="0">
                <a:solidFill>
                  <a:srgbClr val="708097"/>
                </a:solidFill>
              </a:defRPr>
            </a:lvl8pPr>
            <a:lvl9pPr>
              <a:defRPr sz="900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708097"/>
                </a:solidFill>
              </a:defRPr>
            </a:pPr>
            <a:r>
              <a:rPr sz="900" b="0" i="0">
                <a:solidFill>
                  <a:srgbClr val="708097"/>
                </a:solidFill>
              </a:rPr>
              <a:t>compliance_reporting_service.py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E7A6FF-DB94-4D06-BD19-5A860619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98679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6222B"/>
          </a:solidFill>
          <a:ln xmlns:a="http://schemas.openxmlformats.org/drawingml/2006/main" w="9525">
            <a:solidFill>
              <a:srgbClr val="28425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254DE0-3220-4733-B29F-99AE235A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F59E0B"/>
                </a:solidFill>
              </a:defRPr>
            </a:defPPr>
            <a:lvl1pPr>
              <a:defRPr sz="1050" b="1" i="0">
                <a:solidFill>
                  <a:srgbClr val="F59E0B"/>
                </a:solidFill>
              </a:defRPr>
            </a:lvl1pPr>
            <a:lvl2pPr>
              <a:defRPr sz="1050" b="1" i="0">
                <a:solidFill>
                  <a:srgbClr val="F59E0B"/>
                </a:solidFill>
              </a:defRPr>
            </a:lvl2pPr>
            <a:lvl3pPr>
              <a:defRPr sz="1050" b="1" i="0">
                <a:solidFill>
                  <a:srgbClr val="F59E0B"/>
                </a:solidFill>
              </a:defRPr>
            </a:lvl3pPr>
            <a:lvl4pPr>
              <a:defRPr sz="1050" b="1" i="0">
                <a:solidFill>
                  <a:srgbClr val="F59E0B"/>
                </a:solidFill>
              </a:defRPr>
            </a:lvl4pPr>
            <a:lvl5pPr>
              <a:defRPr sz="1050" b="1" i="0">
                <a:solidFill>
                  <a:srgbClr val="F59E0B"/>
                </a:solidFill>
              </a:defRPr>
            </a:lvl5pPr>
            <a:lvl6pPr>
              <a:defRPr sz="1050" b="1" i="0">
                <a:solidFill>
                  <a:srgbClr val="F59E0B"/>
                </a:solidFill>
              </a:defRPr>
            </a:lvl6pPr>
            <a:lvl7pPr>
              <a:defRPr sz="1050" b="1" i="0">
                <a:solidFill>
                  <a:srgbClr val="F59E0B"/>
                </a:solidFill>
              </a:defRPr>
            </a:lvl7pPr>
            <a:lvl8pPr>
              <a:defRPr sz="1050" b="1" i="0">
                <a:solidFill>
                  <a:srgbClr val="F59E0B"/>
                </a:solidFill>
              </a:defRPr>
            </a:lvl8pPr>
            <a:lvl9pPr>
              <a:defRPr sz="10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F59E0B"/>
                </a:solidFill>
              </a:defRPr>
            </a:pPr>
            <a:r>
              <a:rPr sz="1050" b="1" i="0">
                <a:solidFill>
                  <a:srgbClr val="F59E0B"/>
                </a:solidFill>
              </a:rPr>
              <a:t>Evidence gates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A33FD0-5047-436B-B0CF-52FB6BC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E2E8F0"/>
                </a:solidFill>
              </a:defRPr>
            </a:defPPr>
            <a:lvl1pPr>
              <a:defRPr sz="1200" b="0" i="0">
                <a:solidFill>
                  <a:srgbClr val="E2E8F0"/>
                </a:solidFill>
              </a:defRPr>
            </a:lvl1pPr>
            <a:lvl2pPr>
              <a:defRPr sz="1200" b="0" i="0">
                <a:solidFill>
                  <a:srgbClr val="E2E8F0"/>
                </a:solidFill>
              </a:defRPr>
            </a:lvl2pPr>
            <a:lvl3pPr>
              <a:defRPr sz="1200" b="0" i="0">
                <a:solidFill>
                  <a:srgbClr val="E2E8F0"/>
                </a:solidFill>
              </a:defRPr>
            </a:lvl3pPr>
            <a:lvl4pPr>
              <a:defRPr sz="1200" b="0" i="0">
                <a:solidFill>
                  <a:srgbClr val="E2E8F0"/>
                </a:solidFill>
              </a:defRPr>
            </a:lvl4pPr>
            <a:lvl5pPr>
              <a:defRPr sz="1200" b="0" i="0">
                <a:solidFill>
                  <a:srgbClr val="E2E8F0"/>
                </a:solidFill>
              </a:defRPr>
            </a:lvl5pPr>
            <a:lvl6pPr>
              <a:defRPr sz="1200" b="0" i="0">
                <a:solidFill>
                  <a:srgbClr val="E2E8F0"/>
                </a:solidFill>
              </a:defRPr>
            </a:lvl6pPr>
            <a:lvl7pPr>
              <a:defRPr sz="1200" b="0" i="0">
                <a:solidFill>
                  <a:srgbClr val="E2E8F0"/>
                </a:solidFill>
              </a:defRPr>
            </a:lvl7pPr>
            <a:lvl8pPr>
              <a:defRPr sz="1200" b="0" i="0">
                <a:solidFill>
                  <a:srgbClr val="E2E8F0"/>
                </a:solidFill>
              </a:defRPr>
            </a:lvl8pPr>
            <a:lvl9pPr>
              <a:defRPr sz="120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Detection ≥ 0.60 for product crops. Catalogue decisions require shelf-scoped candidates. Missing-stock claims require calibrated positions.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16D38A-FCAA-4B31-BA9C-DF6093D5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E4E46A-D317-4AAC-9D61-815FF9BB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05  /  16</a:t>
            </a:r>
          </a:p>
        </p:txBody>
      </p:sp>
    </p:spTree>
    <p:extLst>
      <p:ext uri="{BB962C8B-B14F-4D97-AF65-F5344CB8AC3E}">
        <p14:creationId xmlns:p14="http://schemas.microsoft.com/office/powerpoint/2010/main" val="1195197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761E5-421E-4DBC-93F5-87865874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0475E-9EFD-413A-AEE7-C62C473C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C6743-21EF-4F62-B3B4-A79D3124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A modular monolith with local persistence and a separate image-parsing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D0FC9-624F-48EF-9EDA-B55EF90E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0EA31-2C87-4DB6-B1C6-CAEEBCF5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2857500" cy="2438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4232C"/>
          </a:solidFill>
          <a:ln xmlns:a="http://schemas.openxmlformats.org/drawingml/2006/main" w="9525">
            <a:solidFill>
              <a:srgbClr val="2450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C5DDF-0B8E-4B66-906D-2CAAEDCB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57400"/>
            <a:ext cx="2857500" cy="2438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81D28"/>
          </a:solidFill>
          <a:ln xmlns:a="http://schemas.openxmlformats.org/drawingml/2006/main" w="9525">
            <a:solidFill>
              <a:srgbClr val="3941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0478A-6429-402A-A5A4-0A6A6475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57400"/>
            <a:ext cx="2857500" cy="2438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2B29"/>
          </a:solidFill>
          <a:ln xmlns:a="http://schemas.openxmlformats.org/drawingml/2006/main" w="9525">
            <a:solidFill>
              <a:srgbClr val="2D5E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0388E-24DB-4EB7-9B33-89D5B9FB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 i="0">
                <a:solidFill>
                  <a:srgbClr val="38BDF8"/>
                </a:solidFill>
              </a:defRPr>
            </a:defPPr>
            <a:lvl1pPr>
              <a:defRPr sz="1650" b="1" i="0">
                <a:solidFill>
                  <a:srgbClr val="38BDF8"/>
                </a:solidFill>
              </a:defRPr>
            </a:lvl1pPr>
            <a:lvl2pPr>
              <a:defRPr sz="1650" b="1" i="0">
                <a:solidFill>
                  <a:srgbClr val="38BDF8"/>
                </a:solidFill>
              </a:defRPr>
            </a:lvl2pPr>
            <a:lvl3pPr>
              <a:defRPr sz="1650" b="1" i="0">
                <a:solidFill>
                  <a:srgbClr val="38BDF8"/>
                </a:solidFill>
              </a:defRPr>
            </a:lvl3pPr>
            <a:lvl4pPr>
              <a:defRPr sz="1650" b="1" i="0">
                <a:solidFill>
                  <a:srgbClr val="38BDF8"/>
                </a:solidFill>
              </a:defRPr>
            </a:lvl4pPr>
            <a:lvl5pPr>
              <a:defRPr sz="1650" b="1" i="0">
                <a:solidFill>
                  <a:srgbClr val="38BDF8"/>
                </a:solidFill>
              </a:defRPr>
            </a:lvl5pPr>
            <a:lvl6pPr>
              <a:defRPr sz="1650" b="1" i="0">
                <a:solidFill>
                  <a:srgbClr val="38BDF8"/>
                </a:solidFill>
              </a:defRPr>
            </a:lvl6pPr>
            <a:lvl7pPr>
              <a:defRPr sz="1650" b="1" i="0">
                <a:solidFill>
                  <a:srgbClr val="38BDF8"/>
                </a:solidFill>
              </a:defRPr>
            </a:lvl7pPr>
            <a:lvl8pPr>
              <a:defRPr sz="1650" b="1" i="0">
                <a:solidFill>
                  <a:srgbClr val="38BDF8"/>
                </a:solidFill>
              </a:defRPr>
            </a:lvl8pPr>
            <a:lvl9pPr>
              <a:defRPr sz="165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38BDF8"/>
                </a:solidFill>
              </a:defRPr>
            </a:pPr>
            <a:r>
              <a:rPr sz="1650" b="1" i="0">
                <a:solidFill>
                  <a:srgbClr val="38BDF8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3EAC0-1630-4E93-8B6D-D992A23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Next.js + TypeScript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Dashboard, Planogram Designer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Analysis and compliance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B64F2-F83E-4005-A136-1C6E7781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A8B1C1"/>
                </a:solidFill>
              </a:defRPr>
            </a:defPPr>
            <a:lvl1pPr>
              <a:defRPr sz="1050" b="0" i="0">
                <a:solidFill>
                  <a:srgbClr val="A8B1C1"/>
                </a:solidFill>
              </a:defRPr>
            </a:lvl1pPr>
            <a:lvl2pPr>
              <a:defRPr sz="1050" b="0" i="0">
                <a:solidFill>
                  <a:srgbClr val="A8B1C1"/>
                </a:solidFill>
              </a:defRPr>
            </a:lvl2pPr>
            <a:lvl3pPr>
              <a:defRPr sz="1050" b="0" i="0">
                <a:solidFill>
                  <a:srgbClr val="A8B1C1"/>
                </a:solidFill>
              </a:defRPr>
            </a:lvl3pPr>
            <a:lvl4pPr>
              <a:defRPr sz="1050" b="0" i="0">
                <a:solidFill>
                  <a:srgbClr val="A8B1C1"/>
                </a:solidFill>
              </a:defRPr>
            </a:lvl4pPr>
            <a:lvl5pPr>
              <a:defRPr sz="1050" b="0" i="0">
                <a:solidFill>
                  <a:srgbClr val="A8B1C1"/>
                </a:solidFill>
              </a:defRPr>
            </a:lvl5pPr>
            <a:lvl6pPr>
              <a:defRPr sz="1050" b="0" i="0">
                <a:solidFill>
                  <a:srgbClr val="A8B1C1"/>
                </a:solidFill>
              </a:defRPr>
            </a:lvl6pPr>
            <a:lvl7pPr>
              <a:defRPr sz="1050" b="0" i="0">
                <a:solidFill>
                  <a:srgbClr val="A8B1C1"/>
                </a:solidFill>
              </a:defRPr>
            </a:lvl7pPr>
            <a:lvl8pPr>
              <a:defRPr sz="1050" b="0" i="0">
                <a:solidFill>
                  <a:srgbClr val="A8B1C1"/>
                </a:solidFill>
              </a:defRPr>
            </a:lvl8pPr>
            <a:lvl9pPr>
              <a:defRPr sz="105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Client API</a:t>
            </a:r>
          </a:p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api.ts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39F0E-3B96-4F6B-A6BA-A0ACF77B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3050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 i="0">
                <a:solidFill>
                  <a:srgbClr val="2DD4BF"/>
                </a:solidFill>
              </a:defRPr>
            </a:defPPr>
            <a:lvl1pPr>
              <a:defRPr sz="1650" b="1" i="0">
                <a:solidFill>
                  <a:srgbClr val="2DD4BF"/>
                </a:solidFill>
              </a:defRPr>
            </a:lvl1pPr>
            <a:lvl2pPr>
              <a:defRPr sz="1650" b="1" i="0">
                <a:solidFill>
                  <a:srgbClr val="2DD4BF"/>
                </a:solidFill>
              </a:defRPr>
            </a:lvl2pPr>
            <a:lvl3pPr>
              <a:defRPr sz="1650" b="1" i="0">
                <a:solidFill>
                  <a:srgbClr val="2DD4BF"/>
                </a:solidFill>
              </a:defRPr>
            </a:lvl3pPr>
            <a:lvl4pPr>
              <a:defRPr sz="1650" b="1" i="0">
                <a:solidFill>
                  <a:srgbClr val="2DD4BF"/>
                </a:solidFill>
              </a:defRPr>
            </a:lvl4pPr>
            <a:lvl5pPr>
              <a:defRPr sz="1650" b="1" i="0">
                <a:solidFill>
                  <a:srgbClr val="2DD4BF"/>
                </a:solidFill>
              </a:defRPr>
            </a:lvl5pPr>
            <a:lvl6pPr>
              <a:defRPr sz="1650" b="1" i="0">
                <a:solidFill>
                  <a:srgbClr val="2DD4BF"/>
                </a:solidFill>
              </a:defRPr>
            </a:lvl6pPr>
            <a:lvl7pPr>
              <a:defRPr sz="1650" b="1" i="0">
                <a:solidFill>
                  <a:srgbClr val="2DD4BF"/>
                </a:solidFill>
              </a:defRPr>
            </a:lvl7pPr>
            <a:lvl8pPr>
              <a:defRPr sz="1650" b="1" i="0">
                <a:solidFill>
                  <a:srgbClr val="2DD4BF"/>
                </a:solidFill>
              </a:defRPr>
            </a:lvl8pPr>
            <a:lvl9pPr>
              <a:defRPr sz="16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23FE9-7DEC-4F20-A708-DB299874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80035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FastAPI + SQLAlchemy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REST routes, audit snapshots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Compliance and reporting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A1252-22FE-4928-B368-5CC46455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95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A8B1C1"/>
                </a:solidFill>
              </a:defRPr>
            </a:defPPr>
            <a:lvl1pPr>
              <a:defRPr sz="1050" b="0" i="0">
                <a:solidFill>
                  <a:srgbClr val="A8B1C1"/>
                </a:solidFill>
              </a:defRPr>
            </a:lvl1pPr>
            <a:lvl2pPr>
              <a:defRPr sz="1050" b="0" i="0">
                <a:solidFill>
                  <a:srgbClr val="A8B1C1"/>
                </a:solidFill>
              </a:defRPr>
            </a:lvl2pPr>
            <a:lvl3pPr>
              <a:defRPr sz="1050" b="0" i="0">
                <a:solidFill>
                  <a:srgbClr val="A8B1C1"/>
                </a:solidFill>
              </a:defRPr>
            </a:lvl3pPr>
            <a:lvl4pPr>
              <a:defRPr sz="1050" b="0" i="0">
                <a:solidFill>
                  <a:srgbClr val="A8B1C1"/>
                </a:solidFill>
              </a:defRPr>
            </a:lvl4pPr>
            <a:lvl5pPr>
              <a:defRPr sz="1050" b="0" i="0">
                <a:solidFill>
                  <a:srgbClr val="A8B1C1"/>
                </a:solidFill>
              </a:defRPr>
            </a:lvl5pPr>
            <a:lvl6pPr>
              <a:defRPr sz="1050" b="0" i="0">
                <a:solidFill>
                  <a:srgbClr val="A8B1C1"/>
                </a:solidFill>
              </a:defRPr>
            </a:lvl6pPr>
            <a:lvl7pPr>
              <a:defRPr sz="1050" b="0" i="0">
                <a:solidFill>
                  <a:srgbClr val="A8B1C1"/>
                </a:solidFill>
              </a:defRPr>
            </a:lvl7pPr>
            <a:lvl8pPr>
              <a:defRPr sz="1050" b="0" i="0">
                <a:solidFill>
                  <a:srgbClr val="A8B1C1"/>
                </a:solidFill>
              </a:defRPr>
            </a:lvl8pPr>
            <a:lvl9pPr>
              <a:defRPr sz="105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image-parsing package</a:t>
            </a:r>
          </a:p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YOLO + OpenCV + CV utilities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68396-53C8-4D00-ADD6-17A3FC81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 i="0">
                <a:solidFill>
                  <a:srgbClr val="6EE7B7"/>
                </a:solidFill>
              </a:defRPr>
            </a:defPPr>
            <a:lvl1pPr>
              <a:defRPr sz="1650" b="1" i="0">
                <a:solidFill>
                  <a:srgbClr val="6EE7B7"/>
                </a:solidFill>
              </a:defRPr>
            </a:lvl1pPr>
            <a:lvl2pPr>
              <a:defRPr sz="1650" b="1" i="0">
                <a:solidFill>
                  <a:srgbClr val="6EE7B7"/>
                </a:solidFill>
              </a:defRPr>
            </a:lvl2pPr>
            <a:lvl3pPr>
              <a:defRPr sz="1650" b="1" i="0">
                <a:solidFill>
                  <a:srgbClr val="6EE7B7"/>
                </a:solidFill>
              </a:defRPr>
            </a:lvl3pPr>
            <a:lvl4pPr>
              <a:defRPr sz="1650" b="1" i="0">
                <a:solidFill>
                  <a:srgbClr val="6EE7B7"/>
                </a:solidFill>
              </a:defRPr>
            </a:lvl4pPr>
            <a:lvl5pPr>
              <a:defRPr sz="1650" b="1" i="0">
                <a:solidFill>
                  <a:srgbClr val="6EE7B7"/>
                </a:solidFill>
              </a:defRPr>
            </a:lvl5pPr>
            <a:lvl6pPr>
              <a:defRPr sz="1650" b="1" i="0">
                <a:solidFill>
                  <a:srgbClr val="6EE7B7"/>
                </a:solidFill>
              </a:defRPr>
            </a:lvl6pPr>
            <a:lvl7pPr>
              <a:defRPr sz="1650" b="1" i="0">
                <a:solidFill>
                  <a:srgbClr val="6EE7B7"/>
                </a:solidFill>
              </a:defRPr>
            </a:lvl7pPr>
            <a:lvl8pPr>
              <a:defRPr sz="1650" b="1" i="0">
                <a:solidFill>
                  <a:srgbClr val="6EE7B7"/>
                </a:solidFill>
              </a:defRPr>
            </a:lvl8pPr>
            <a:lvl9pPr>
              <a:defRPr sz="1650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650" b="1" i="0">
                <a:solidFill>
                  <a:srgbClr val="6EE7B7"/>
                </a:solidFill>
              </a:defRPr>
            </a:pPr>
            <a:r>
              <a:rPr sz="1650" b="1" i="0">
                <a:solidFill>
                  <a:srgbClr val="6EE7B7"/>
                </a:solidFill>
              </a:rPr>
              <a:t>Persistence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110D3-EDA5-4C8D-8E53-C8E27E63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 i="0">
                <a:solidFill>
                  <a:srgbClr val="E2E8F0"/>
                </a:solidFill>
              </a:defRPr>
            </a:defPPr>
            <a:lvl1pPr>
              <a:defRPr sz="1275" b="0" i="0">
                <a:solidFill>
                  <a:srgbClr val="E2E8F0"/>
                </a:solidFill>
              </a:defRPr>
            </a:lvl1pPr>
            <a:lvl2pPr>
              <a:defRPr sz="1275" b="0" i="0">
                <a:solidFill>
                  <a:srgbClr val="E2E8F0"/>
                </a:solidFill>
              </a:defRPr>
            </a:lvl2pPr>
            <a:lvl3pPr>
              <a:defRPr sz="1275" b="0" i="0">
                <a:solidFill>
                  <a:srgbClr val="E2E8F0"/>
                </a:solidFill>
              </a:defRPr>
            </a:lvl3pPr>
            <a:lvl4pPr>
              <a:defRPr sz="1275" b="0" i="0">
                <a:solidFill>
                  <a:srgbClr val="E2E8F0"/>
                </a:solidFill>
              </a:defRPr>
            </a:lvl4pPr>
            <a:lvl5pPr>
              <a:defRPr sz="1275" b="0" i="0">
                <a:solidFill>
                  <a:srgbClr val="E2E8F0"/>
                </a:solidFill>
              </a:defRPr>
            </a:lvl5pPr>
            <a:lvl6pPr>
              <a:defRPr sz="1275" b="0" i="0">
                <a:solidFill>
                  <a:srgbClr val="E2E8F0"/>
                </a:solidFill>
              </a:defRPr>
            </a:lvl6pPr>
            <a:lvl7pPr>
              <a:defRPr sz="1275" b="0" i="0">
                <a:solidFill>
                  <a:srgbClr val="E2E8F0"/>
                </a:solidFill>
              </a:defRPr>
            </a:lvl7pPr>
            <a:lvl8pPr>
              <a:defRPr sz="1275" b="0" i="0">
                <a:solidFill>
                  <a:srgbClr val="E2E8F0"/>
                </a:solidFill>
              </a:defRPr>
            </a:lvl8pPr>
            <a:lvl9pPr>
              <a:defRPr sz="12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SQLite database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Local uploads and derived crops</a:t>
            </a:r>
          </a:p>
          <a:p xmlns:a="http://schemas.openxmlformats.org/drawingml/2006/main">
            <a:pPr>
              <a:defRPr sz="1275" b="0" i="0">
                <a:solidFill>
                  <a:srgbClr val="E2E8F0"/>
                </a:solidFill>
              </a:defRPr>
            </a:pPr>
            <a:r>
              <a:rPr sz="1275" b="0" i="0">
                <a:solidFill>
                  <a:srgbClr val="E2E8F0"/>
                </a:solidFill>
              </a:rPr>
              <a:t>Versioned JSON / ZIP exports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0495B-E255-4B74-9912-D58A2181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95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A8B1C1"/>
                </a:solidFill>
              </a:defRPr>
            </a:defPPr>
            <a:lvl1pPr>
              <a:defRPr sz="1050" b="0" i="0">
                <a:solidFill>
                  <a:srgbClr val="A8B1C1"/>
                </a:solidFill>
              </a:defRPr>
            </a:lvl1pPr>
            <a:lvl2pPr>
              <a:defRPr sz="1050" b="0" i="0">
                <a:solidFill>
                  <a:srgbClr val="A8B1C1"/>
                </a:solidFill>
              </a:defRPr>
            </a:lvl2pPr>
            <a:lvl3pPr>
              <a:defRPr sz="1050" b="0" i="0">
                <a:solidFill>
                  <a:srgbClr val="A8B1C1"/>
                </a:solidFill>
              </a:defRPr>
            </a:lvl3pPr>
            <a:lvl4pPr>
              <a:defRPr sz="1050" b="0" i="0">
                <a:solidFill>
                  <a:srgbClr val="A8B1C1"/>
                </a:solidFill>
              </a:defRPr>
            </a:lvl4pPr>
            <a:lvl5pPr>
              <a:defRPr sz="1050" b="0" i="0">
                <a:solidFill>
                  <a:srgbClr val="A8B1C1"/>
                </a:solidFill>
              </a:defRPr>
            </a:lvl5pPr>
            <a:lvl6pPr>
              <a:defRPr sz="1050" b="0" i="0">
                <a:solidFill>
                  <a:srgbClr val="A8B1C1"/>
                </a:solidFill>
              </a:defRPr>
            </a:lvl6pPr>
            <a:lvl7pPr>
              <a:defRPr sz="1050" b="0" i="0">
                <a:solidFill>
                  <a:srgbClr val="A8B1C1"/>
                </a:solidFill>
              </a:defRPr>
            </a:lvl7pPr>
            <a:lvl8pPr>
              <a:defRPr sz="1050" b="0" i="0">
                <a:solidFill>
                  <a:srgbClr val="A8B1C1"/>
                </a:solidFill>
              </a:defRPr>
            </a:lvl8pPr>
            <a:lvl9pPr>
              <a:defRPr sz="105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Packshots + embeddings</a:t>
            </a:r>
          </a:p>
          <a:p xmlns:a="http://schemas.openxmlformats.org/drawingml/2006/main">
            <a:pPr>
              <a:defRPr sz="1050" b="0" i="0">
                <a:solidFill>
                  <a:srgbClr val="A8B1C1"/>
                </a:solidFill>
              </a:defRPr>
            </a:pPr>
            <a:r>
              <a:rPr sz="1050" b="0" i="0">
                <a:solidFill>
                  <a:srgbClr val="A8B1C1"/>
                </a:solidFill>
              </a:rPr>
              <a:t>Audit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A67DA-2909-4B41-93E8-3CA9946D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122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67C0C-EA3F-4B28-BD34-4A254652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REST / multipart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9E7DA-9807-474A-8BB7-06D6025D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76600"/>
            <a:ext cx="1228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E7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20DB4-9C0B-4C88-9F19-ECEC6E2F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099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paths +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116FA-F2B8-4EA8-B66B-F48864B7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33975"/>
            <a:ext cx="7581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842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077B2-1622-468C-8DC7-2E820BF3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8637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Invariant: physical centimetres govern shelf layout. Frontend pixels only project that geometry for interaction and display.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40FC0-E658-47B3-8B7A-F484A5D0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CD9AE7-436D-43D4-A06D-D344E590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06  /  16</a:t>
            </a:r>
          </a:p>
        </p:txBody>
      </p:sp>
    </p:spTree>
    <p:extLst>
      <p:ext uri="{BB962C8B-B14F-4D97-AF65-F5344CB8AC3E}">
        <p14:creationId xmlns:p14="http://schemas.microsoft.com/office/powerpoint/2010/main" val="2047401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421D9D-DDE0-418C-B364-16687499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52892-9F5C-4D67-B5C9-498D6457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Inputs and frozen audit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27B80-7085-40C3-8B30-48977D06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Each processing job captures the planogram state and the relevant shelf catalogue before analysis begins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C62A7-6B5B-4CCE-9971-41485425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F21F7-BB7E-4F03-8B92-FC1DFA7D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610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34E3C-B538-441F-87AB-3E4919B2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2DD4BF"/>
                </a:solidFill>
              </a:defRPr>
            </a:defPPr>
            <a:lvl1pPr>
              <a:defRPr sz="1200" b="1" i="0">
                <a:solidFill>
                  <a:srgbClr val="2DD4BF"/>
                </a:solidFill>
              </a:defRPr>
            </a:lvl1pPr>
            <a:lvl2pPr>
              <a:defRPr sz="1200" b="1" i="0">
                <a:solidFill>
                  <a:srgbClr val="2DD4BF"/>
                </a:solidFill>
              </a:defRPr>
            </a:lvl2pPr>
            <a:lvl3pPr>
              <a:defRPr sz="1200" b="1" i="0">
                <a:solidFill>
                  <a:srgbClr val="2DD4BF"/>
                </a:solidFill>
              </a:defRPr>
            </a:lvl3pPr>
            <a:lvl4pPr>
              <a:defRPr sz="1200" b="1" i="0">
                <a:solidFill>
                  <a:srgbClr val="2DD4BF"/>
                </a:solidFill>
              </a:defRPr>
            </a:lvl4pPr>
            <a:lvl5pPr>
              <a:defRPr sz="1200" b="1" i="0">
                <a:solidFill>
                  <a:srgbClr val="2DD4BF"/>
                </a:solidFill>
              </a:defRPr>
            </a:lvl5pPr>
            <a:lvl6pPr>
              <a:defRPr sz="1200" b="1" i="0">
                <a:solidFill>
                  <a:srgbClr val="2DD4BF"/>
                </a:solidFill>
              </a:defRPr>
            </a:lvl6pPr>
            <a:lvl7pPr>
              <a:defRPr sz="1200" b="1" i="0">
                <a:solidFill>
                  <a:srgbClr val="2DD4BF"/>
                </a:solidFill>
              </a:defRPr>
            </a:lvl7pPr>
            <a:lvl8pPr>
              <a:defRPr sz="1200" b="1" i="0">
                <a:solidFill>
                  <a:srgbClr val="2DD4BF"/>
                </a:solidFill>
              </a:defRPr>
            </a:lvl8pPr>
            <a:lvl9pPr>
              <a:defRPr sz="12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DD4BF"/>
                </a:solidFill>
              </a:defRPr>
            </a:pPr>
            <a:r>
              <a:rPr sz="1200" b="1" i="0">
                <a:solidFill>
                  <a:srgbClr val="2DD4BF"/>
                </a:solidFill>
              </a:rPr>
              <a:t>Planogram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17C94-AE4D-4BC6-886D-B18E197B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66925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F8FAFC"/>
                </a:solidFill>
              </a:defRPr>
            </a:defPPr>
            <a:lvl1pPr>
              <a:defRPr sz="1050" b="0" i="0">
                <a:solidFill>
                  <a:srgbClr val="F8FAFC"/>
                </a:solidFill>
              </a:defRPr>
            </a:lvl1pPr>
            <a:lvl2pPr>
              <a:defRPr sz="1050" b="0" i="0">
                <a:solidFill>
                  <a:srgbClr val="F8FAFC"/>
                </a:solidFill>
              </a:defRPr>
            </a:lvl2pPr>
            <a:lvl3pPr>
              <a:defRPr sz="1050" b="0" i="0">
                <a:solidFill>
                  <a:srgbClr val="F8FAFC"/>
                </a:solidFill>
              </a:defRPr>
            </a:lvl3pPr>
            <a:lvl4pPr>
              <a:defRPr sz="1050" b="0" i="0">
                <a:solidFill>
                  <a:srgbClr val="F8FAFC"/>
                </a:solidFill>
              </a:defRPr>
            </a:lvl4pPr>
            <a:lvl5pPr>
              <a:defRPr sz="1050" b="0" i="0">
                <a:solidFill>
                  <a:srgbClr val="F8FAFC"/>
                </a:solidFill>
              </a:defRPr>
            </a:lvl5pPr>
            <a:lvl6pPr>
              <a:defRPr sz="1050" b="0" i="0">
                <a:solidFill>
                  <a:srgbClr val="F8FAFC"/>
                </a:solidFill>
              </a:defRPr>
            </a:lvl6pPr>
            <a:lvl7pPr>
              <a:defRPr sz="1050" b="0" i="0">
                <a:solidFill>
                  <a:srgbClr val="F8FAFC"/>
                </a:solidFill>
              </a:defRPr>
            </a:lvl7pPr>
            <a:lvl8pPr>
              <a:defRPr sz="1050" b="0" i="0">
                <a:solidFill>
                  <a:srgbClr val="F8FAFC"/>
                </a:solidFill>
              </a:defRPr>
            </a:lvl8pPr>
            <a:lvl9pPr>
              <a:defRPr sz="105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F8FAFC"/>
                </a:solidFill>
              </a:defRPr>
            </a:pPr>
            <a:r>
              <a:rPr sz="1050" b="0" i="0">
                <a:solidFill>
                  <a:srgbClr val="F8FAFC"/>
                </a:solidFill>
              </a:rPr>
              <a:t>Shelf width, rows, product placements, facings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162AA-C25F-4C3D-807B-FC9F5D61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764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Expected physical arrangement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DB31B-F5CF-4A21-B339-44FBD1E1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610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33385-CD9D-42A6-A5B6-C228B6C6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38BDF8"/>
                </a:solidFill>
              </a:defRPr>
            </a:defPPr>
            <a:lvl1pPr>
              <a:defRPr sz="1200" b="1" i="0">
                <a:solidFill>
                  <a:srgbClr val="38BDF8"/>
                </a:solidFill>
              </a:defRPr>
            </a:lvl1pPr>
            <a:lvl2pPr>
              <a:defRPr sz="1200" b="1" i="0">
                <a:solidFill>
                  <a:srgbClr val="38BDF8"/>
                </a:solidFill>
              </a:defRPr>
            </a:lvl2pPr>
            <a:lvl3pPr>
              <a:defRPr sz="1200" b="1" i="0">
                <a:solidFill>
                  <a:srgbClr val="38BDF8"/>
                </a:solidFill>
              </a:defRPr>
            </a:lvl3pPr>
            <a:lvl4pPr>
              <a:defRPr sz="1200" b="1" i="0">
                <a:solidFill>
                  <a:srgbClr val="38BDF8"/>
                </a:solidFill>
              </a:defRPr>
            </a:lvl4pPr>
            <a:lvl5pPr>
              <a:defRPr sz="1200" b="1" i="0">
                <a:solidFill>
                  <a:srgbClr val="38BDF8"/>
                </a:solidFill>
              </a:defRPr>
            </a:lvl5pPr>
            <a:lvl6pPr>
              <a:defRPr sz="1200" b="1" i="0">
                <a:solidFill>
                  <a:srgbClr val="38BDF8"/>
                </a:solidFill>
              </a:defRPr>
            </a:lvl6pPr>
            <a:lvl7pPr>
              <a:defRPr sz="1200" b="1" i="0">
                <a:solidFill>
                  <a:srgbClr val="38BDF8"/>
                </a:solidFill>
              </a:defRPr>
            </a:lvl7pPr>
            <a:lvl8pPr>
              <a:defRPr sz="1200" b="1" i="0">
                <a:solidFill>
                  <a:srgbClr val="38BDF8"/>
                </a:solidFill>
              </a:defRPr>
            </a:lvl8pPr>
            <a:lvl9pPr>
              <a:defRPr sz="120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38BDF8"/>
                </a:solidFill>
              </a:defRPr>
            </a:pPr>
            <a:r>
              <a:rPr sz="1200" b="1" i="0">
                <a:solidFill>
                  <a:srgbClr val="38BDF8"/>
                </a:solidFill>
              </a:rPr>
              <a:t>Shelf photograph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74AB1-11EB-4F6A-8721-1C9F8DE6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9560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F8FAFC"/>
                </a:solidFill>
              </a:defRPr>
            </a:defPPr>
            <a:lvl1pPr>
              <a:defRPr sz="1050" b="0" i="0">
                <a:solidFill>
                  <a:srgbClr val="F8FAFC"/>
                </a:solidFill>
              </a:defRPr>
            </a:lvl1pPr>
            <a:lvl2pPr>
              <a:defRPr sz="1050" b="0" i="0">
                <a:solidFill>
                  <a:srgbClr val="F8FAFC"/>
                </a:solidFill>
              </a:defRPr>
            </a:lvl2pPr>
            <a:lvl3pPr>
              <a:defRPr sz="1050" b="0" i="0">
                <a:solidFill>
                  <a:srgbClr val="F8FAFC"/>
                </a:solidFill>
              </a:defRPr>
            </a:lvl3pPr>
            <a:lvl4pPr>
              <a:defRPr sz="1050" b="0" i="0">
                <a:solidFill>
                  <a:srgbClr val="F8FAFC"/>
                </a:solidFill>
              </a:defRPr>
            </a:lvl4pPr>
            <a:lvl5pPr>
              <a:defRPr sz="1050" b="0" i="0">
                <a:solidFill>
                  <a:srgbClr val="F8FAFC"/>
                </a:solidFill>
              </a:defRPr>
            </a:lvl5pPr>
            <a:lvl6pPr>
              <a:defRPr sz="1050" b="0" i="0">
                <a:solidFill>
                  <a:srgbClr val="F8FAFC"/>
                </a:solidFill>
              </a:defRPr>
            </a:lvl6pPr>
            <a:lvl7pPr>
              <a:defRPr sz="1050" b="0" i="0">
                <a:solidFill>
                  <a:srgbClr val="F8FAFC"/>
                </a:solidFill>
              </a:defRPr>
            </a:lvl7pPr>
            <a:lvl8pPr>
              <a:defRPr sz="1050" b="0" i="0">
                <a:solidFill>
                  <a:srgbClr val="F8FAFC"/>
                </a:solidFill>
              </a:defRPr>
            </a:lvl8pPr>
            <a:lvl9pPr>
              <a:defRPr sz="105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F8FAFC"/>
                </a:solidFill>
              </a:defRPr>
            </a:pPr>
            <a:r>
              <a:rPr sz="1050" b="0" i="0">
                <a:solidFill>
                  <a:srgbClr val="F8FAFC"/>
                </a:solidFill>
              </a:rPr>
              <a:t>Original uploaded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49017-3EEA-4C09-A6DF-A1DBC300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05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Observed visual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7D5A1-ACA9-4E15-9567-73109D98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4610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4D9BA-F40B-42BD-94AF-6FB7C66F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59E0B"/>
                </a:solidFill>
              </a:defRPr>
            </a:defPPr>
            <a:lvl1pPr>
              <a:defRPr sz="1200" b="1" i="0">
                <a:solidFill>
                  <a:srgbClr val="F59E0B"/>
                </a:solidFill>
              </a:defRPr>
            </a:lvl1pPr>
            <a:lvl2pPr>
              <a:defRPr sz="1200" b="1" i="0">
                <a:solidFill>
                  <a:srgbClr val="F59E0B"/>
                </a:solidFill>
              </a:defRPr>
            </a:lvl2pPr>
            <a:lvl3pPr>
              <a:defRPr sz="1200" b="1" i="0">
                <a:solidFill>
                  <a:srgbClr val="F59E0B"/>
                </a:solidFill>
              </a:defRPr>
            </a:lvl3pPr>
            <a:lvl4pPr>
              <a:defRPr sz="1200" b="1" i="0">
                <a:solidFill>
                  <a:srgbClr val="F59E0B"/>
                </a:solidFill>
              </a:defRPr>
            </a:lvl4pPr>
            <a:lvl5pPr>
              <a:defRPr sz="1200" b="1" i="0">
                <a:solidFill>
                  <a:srgbClr val="F59E0B"/>
                </a:solidFill>
              </a:defRPr>
            </a:lvl5pPr>
            <a:lvl6pPr>
              <a:defRPr sz="1200" b="1" i="0">
                <a:solidFill>
                  <a:srgbClr val="F59E0B"/>
                </a:solidFill>
              </a:defRPr>
            </a:lvl6pPr>
            <a:lvl7pPr>
              <a:defRPr sz="1200" b="1" i="0">
                <a:solidFill>
                  <a:srgbClr val="F59E0B"/>
                </a:solidFill>
              </a:defRPr>
            </a:lvl7pPr>
            <a:lvl8pPr>
              <a:defRPr sz="1200" b="1" i="0">
                <a:solidFill>
                  <a:srgbClr val="F59E0B"/>
                </a:solidFill>
              </a:defRPr>
            </a:lvl8pPr>
            <a:lvl9pPr>
              <a:defRPr sz="12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59E0B"/>
                </a:solidFill>
              </a:defRPr>
            </a:pPr>
            <a:r>
              <a:rPr sz="1200" b="1" i="0">
                <a:solidFill>
                  <a:srgbClr val="F59E0B"/>
                </a:solidFill>
              </a:rPr>
              <a:t>Audit 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DBAA1-0053-482A-B5A5-885853A6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24275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F8FAFC"/>
                </a:solidFill>
              </a:defRPr>
            </a:defPPr>
            <a:lvl1pPr>
              <a:defRPr sz="1050" b="0" i="0">
                <a:solidFill>
                  <a:srgbClr val="F8FAFC"/>
                </a:solidFill>
              </a:defRPr>
            </a:lvl1pPr>
            <a:lvl2pPr>
              <a:defRPr sz="1050" b="0" i="0">
                <a:solidFill>
                  <a:srgbClr val="F8FAFC"/>
                </a:solidFill>
              </a:defRPr>
            </a:lvl2pPr>
            <a:lvl3pPr>
              <a:defRPr sz="1050" b="0" i="0">
                <a:solidFill>
                  <a:srgbClr val="F8FAFC"/>
                </a:solidFill>
              </a:defRPr>
            </a:lvl3pPr>
            <a:lvl4pPr>
              <a:defRPr sz="1050" b="0" i="0">
                <a:solidFill>
                  <a:srgbClr val="F8FAFC"/>
                </a:solidFill>
              </a:defRPr>
            </a:lvl4pPr>
            <a:lvl5pPr>
              <a:defRPr sz="1050" b="0" i="0">
                <a:solidFill>
                  <a:srgbClr val="F8FAFC"/>
                </a:solidFill>
              </a:defRPr>
            </a:lvl5pPr>
            <a:lvl6pPr>
              <a:defRPr sz="1050" b="0" i="0">
                <a:solidFill>
                  <a:srgbClr val="F8FAFC"/>
                </a:solidFill>
              </a:defRPr>
            </a:lvl6pPr>
            <a:lvl7pPr>
              <a:defRPr sz="1050" b="0" i="0">
                <a:solidFill>
                  <a:srgbClr val="F8FAFC"/>
                </a:solidFill>
              </a:defRPr>
            </a:lvl7pPr>
            <a:lvl8pPr>
              <a:defRPr sz="1050" b="0" i="0">
                <a:solidFill>
                  <a:srgbClr val="F8FAFC"/>
                </a:solidFill>
              </a:defRPr>
            </a:lvl8pPr>
            <a:lvl9pPr>
              <a:defRPr sz="105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F8FAFC"/>
                </a:solidFill>
              </a:defRPr>
            </a:pPr>
            <a:r>
              <a:rPr sz="1050" b="0" i="0">
                <a:solidFill>
                  <a:srgbClr val="F8FAFC"/>
                </a:solidFill>
              </a:rPr>
              <a:t>Expected facing slots + shelf-specific catalogue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B9ED4-14E3-4B03-9C85-0F8E5D30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338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Immutable comparison frame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E0BE7-2771-4269-B651-870FDBE4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610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0BB75-8ABD-4793-821B-A9F9EC18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6EE7B7"/>
                </a:solidFill>
              </a:defRPr>
            </a:defPPr>
            <a:lvl1pPr>
              <a:defRPr sz="1200" b="1" i="0">
                <a:solidFill>
                  <a:srgbClr val="6EE7B7"/>
                </a:solidFill>
              </a:defRPr>
            </a:lvl1pPr>
            <a:lvl2pPr>
              <a:defRPr sz="1200" b="1" i="0">
                <a:solidFill>
                  <a:srgbClr val="6EE7B7"/>
                </a:solidFill>
              </a:defRPr>
            </a:lvl2pPr>
            <a:lvl3pPr>
              <a:defRPr sz="1200" b="1" i="0">
                <a:solidFill>
                  <a:srgbClr val="6EE7B7"/>
                </a:solidFill>
              </a:defRPr>
            </a:lvl3pPr>
            <a:lvl4pPr>
              <a:defRPr sz="1200" b="1" i="0">
                <a:solidFill>
                  <a:srgbClr val="6EE7B7"/>
                </a:solidFill>
              </a:defRPr>
            </a:lvl4pPr>
            <a:lvl5pPr>
              <a:defRPr sz="1200" b="1" i="0">
                <a:solidFill>
                  <a:srgbClr val="6EE7B7"/>
                </a:solidFill>
              </a:defRPr>
            </a:lvl5pPr>
            <a:lvl6pPr>
              <a:defRPr sz="1200" b="1" i="0">
                <a:solidFill>
                  <a:srgbClr val="6EE7B7"/>
                </a:solidFill>
              </a:defRPr>
            </a:lvl6pPr>
            <a:lvl7pPr>
              <a:defRPr sz="1200" b="1" i="0">
                <a:solidFill>
                  <a:srgbClr val="6EE7B7"/>
                </a:solidFill>
              </a:defRPr>
            </a:lvl7pPr>
            <a:lvl8pPr>
              <a:defRPr sz="1200" b="1" i="0">
                <a:solidFill>
                  <a:srgbClr val="6EE7B7"/>
                </a:solidFill>
              </a:defRPr>
            </a:lvl8pPr>
            <a:lvl9pPr>
              <a:defRPr sz="1200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Packshots + metadata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D8867-E45C-4941-BB70-5A865C82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52950"/>
            <a:ext cx="285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F8FAFC"/>
                </a:solidFill>
              </a:defRPr>
            </a:defPPr>
            <a:lvl1pPr>
              <a:defRPr sz="1050" b="0" i="0">
                <a:solidFill>
                  <a:srgbClr val="F8FAFC"/>
                </a:solidFill>
              </a:defRPr>
            </a:lvl1pPr>
            <a:lvl2pPr>
              <a:defRPr sz="1050" b="0" i="0">
                <a:solidFill>
                  <a:srgbClr val="F8FAFC"/>
                </a:solidFill>
              </a:defRPr>
            </a:lvl2pPr>
            <a:lvl3pPr>
              <a:defRPr sz="1050" b="0" i="0">
                <a:solidFill>
                  <a:srgbClr val="F8FAFC"/>
                </a:solidFill>
              </a:defRPr>
            </a:lvl3pPr>
            <a:lvl4pPr>
              <a:defRPr sz="1050" b="0" i="0">
                <a:solidFill>
                  <a:srgbClr val="F8FAFC"/>
                </a:solidFill>
              </a:defRPr>
            </a:lvl4pPr>
            <a:lvl5pPr>
              <a:defRPr sz="1050" b="0" i="0">
                <a:solidFill>
                  <a:srgbClr val="F8FAFC"/>
                </a:solidFill>
              </a:defRPr>
            </a:lvl5pPr>
            <a:lvl6pPr>
              <a:defRPr sz="1050" b="0" i="0">
                <a:solidFill>
                  <a:srgbClr val="F8FAFC"/>
                </a:solidFill>
              </a:defRPr>
            </a:lvl6pPr>
            <a:lvl7pPr>
              <a:defRPr sz="1050" b="0" i="0">
                <a:solidFill>
                  <a:srgbClr val="F8FAFC"/>
                </a:solidFill>
              </a:defRPr>
            </a:lvl7pPr>
            <a:lvl8pPr>
              <a:defRPr sz="1050" b="0" i="0">
                <a:solidFill>
                  <a:srgbClr val="F8FAFC"/>
                </a:solidFill>
              </a:defRPr>
            </a:lvl8pPr>
            <a:lvl9pPr>
              <a:defRPr sz="105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F8FAFC"/>
                </a:solidFill>
              </a:defRPr>
            </a:pPr>
            <a:r>
              <a:rPr sz="1050" b="0" i="0">
                <a:solidFill>
                  <a:srgbClr val="F8FAFC"/>
                </a:solidFill>
              </a:rPr>
              <a:t>Name, SKU, category, price, embeddings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152AE-31A5-46DF-8050-5CDD9EDE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62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Candidate identity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0397A-2752-413B-B79E-DC14544E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71675"/>
            <a:ext cx="50292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21822"/>
          </a:solidFill>
          <a:ln xmlns:a="http://schemas.openxmlformats.org/drawingml/2006/main" w="9525">
            <a:solidFill>
              <a:srgbClr val="2C40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B4C7E-AA5F-49BA-9B1A-38AE13A3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7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Why shelf-scoped candidates matter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8354A-C83F-4BE9-8162-4E23E930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5FBB2C-EBB5-400A-B559-9BEE5FB8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81300"/>
            <a:ext cx="40957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E2E8F0"/>
                </a:solidFill>
              </a:defRPr>
            </a:defPPr>
            <a:lvl1pPr>
              <a:defRPr sz="1200" b="0" i="0">
                <a:solidFill>
                  <a:srgbClr val="E2E8F0"/>
                </a:solidFill>
              </a:defRPr>
            </a:lvl1pPr>
            <a:lvl2pPr>
              <a:defRPr sz="1200" b="0" i="0">
                <a:solidFill>
                  <a:srgbClr val="E2E8F0"/>
                </a:solidFill>
              </a:defRPr>
            </a:lvl2pPr>
            <a:lvl3pPr>
              <a:defRPr sz="1200" b="0" i="0">
                <a:solidFill>
                  <a:srgbClr val="E2E8F0"/>
                </a:solidFill>
              </a:defRPr>
            </a:lvl3pPr>
            <a:lvl4pPr>
              <a:defRPr sz="1200" b="0" i="0">
                <a:solidFill>
                  <a:srgbClr val="E2E8F0"/>
                </a:solidFill>
              </a:defRPr>
            </a:lvl4pPr>
            <a:lvl5pPr>
              <a:defRPr sz="1200" b="0" i="0">
                <a:solidFill>
                  <a:srgbClr val="E2E8F0"/>
                </a:solidFill>
              </a:defRPr>
            </a:lvl5pPr>
            <a:lvl6pPr>
              <a:defRPr sz="1200" b="0" i="0">
                <a:solidFill>
                  <a:srgbClr val="E2E8F0"/>
                </a:solidFill>
              </a:defRPr>
            </a:lvl6pPr>
            <a:lvl7pPr>
              <a:defRPr sz="1200" b="0" i="0">
                <a:solidFill>
                  <a:srgbClr val="E2E8F0"/>
                </a:solidFill>
              </a:defRPr>
            </a:lvl7pPr>
            <a:lvl8pPr>
              <a:defRPr sz="1200" b="0" i="0">
                <a:solidFill>
                  <a:srgbClr val="E2E8F0"/>
                </a:solidFill>
              </a:defRPr>
            </a:lvl8pPr>
            <a:lvl9pPr>
              <a:defRPr sz="120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The matcher excludes unrelated catalogue products captured outside the selected shelf.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B6C30-5787-45BF-A97B-FC025E8C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D78F9-160B-43BC-A8E5-D7972255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71850"/>
            <a:ext cx="40957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E2E8F0"/>
                </a:solidFill>
              </a:defRPr>
            </a:defPPr>
            <a:lvl1pPr>
              <a:defRPr sz="1200" b="0" i="0">
                <a:solidFill>
                  <a:srgbClr val="E2E8F0"/>
                </a:solidFill>
              </a:defRPr>
            </a:lvl1pPr>
            <a:lvl2pPr>
              <a:defRPr sz="1200" b="0" i="0">
                <a:solidFill>
                  <a:srgbClr val="E2E8F0"/>
                </a:solidFill>
              </a:defRPr>
            </a:lvl2pPr>
            <a:lvl3pPr>
              <a:defRPr sz="1200" b="0" i="0">
                <a:solidFill>
                  <a:srgbClr val="E2E8F0"/>
                </a:solidFill>
              </a:defRPr>
            </a:lvl3pPr>
            <a:lvl4pPr>
              <a:defRPr sz="1200" b="0" i="0">
                <a:solidFill>
                  <a:srgbClr val="E2E8F0"/>
                </a:solidFill>
              </a:defRPr>
            </a:lvl4pPr>
            <a:lvl5pPr>
              <a:defRPr sz="1200" b="0" i="0">
                <a:solidFill>
                  <a:srgbClr val="E2E8F0"/>
                </a:solidFill>
              </a:defRPr>
            </a:lvl5pPr>
            <a:lvl6pPr>
              <a:defRPr sz="1200" b="0" i="0">
                <a:solidFill>
                  <a:srgbClr val="E2E8F0"/>
                </a:solidFill>
              </a:defRPr>
            </a:lvl6pPr>
            <a:lvl7pPr>
              <a:defRPr sz="1200" b="0" i="0">
                <a:solidFill>
                  <a:srgbClr val="E2E8F0"/>
                </a:solidFill>
              </a:defRPr>
            </a:lvl7pPr>
            <a:lvl8pPr>
              <a:defRPr sz="1200" b="0" i="0">
                <a:solidFill>
                  <a:srgbClr val="E2E8F0"/>
                </a:solidFill>
              </a:defRPr>
            </a:lvl8pPr>
            <a:lvl9pPr>
              <a:defRPr sz="120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It preserves the actual candidate set that existed when the audit started.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059A0C-0A15-43F0-ACA2-08DC9800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149B4A-2471-480F-A6BD-7A87DB99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62400"/>
            <a:ext cx="40957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E2E8F0"/>
                </a:solidFill>
              </a:defRPr>
            </a:defPPr>
            <a:lvl1pPr>
              <a:defRPr sz="1200" b="0" i="0">
                <a:solidFill>
                  <a:srgbClr val="E2E8F0"/>
                </a:solidFill>
              </a:defRPr>
            </a:lvl1pPr>
            <a:lvl2pPr>
              <a:defRPr sz="1200" b="0" i="0">
                <a:solidFill>
                  <a:srgbClr val="E2E8F0"/>
                </a:solidFill>
              </a:defRPr>
            </a:lvl2pPr>
            <a:lvl3pPr>
              <a:defRPr sz="1200" b="0" i="0">
                <a:solidFill>
                  <a:srgbClr val="E2E8F0"/>
                </a:solidFill>
              </a:defRPr>
            </a:lvl3pPr>
            <a:lvl4pPr>
              <a:defRPr sz="1200" b="0" i="0">
                <a:solidFill>
                  <a:srgbClr val="E2E8F0"/>
                </a:solidFill>
              </a:defRPr>
            </a:lvl4pPr>
            <a:lvl5pPr>
              <a:defRPr sz="1200" b="0" i="0">
                <a:solidFill>
                  <a:srgbClr val="E2E8F0"/>
                </a:solidFill>
              </a:defRPr>
            </a:lvl5pPr>
            <a:lvl6pPr>
              <a:defRPr sz="1200" b="0" i="0">
                <a:solidFill>
                  <a:srgbClr val="E2E8F0"/>
                </a:solidFill>
              </a:defRPr>
            </a:lvl6pPr>
            <a:lvl7pPr>
              <a:defRPr sz="1200" b="0" i="0">
                <a:solidFill>
                  <a:srgbClr val="E2E8F0"/>
                </a:solidFill>
              </a:defRPr>
            </a:lvl7pPr>
            <a:lvl8pPr>
              <a:defRPr sz="1200" b="0" i="0">
                <a:solidFill>
                  <a:srgbClr val="E2E8F0"/>
                </a:solidFill>
              </a:defRPr>
            </a:lvl8pPr>
            <a:lvl9pPr>
              <a:defRPr sz="120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E2E8F0"/>
                </a:solidFill>
              </a:defRPr>
            </a:pPr>
            <a:r>
              <a:rPr sz="1200" b="0" i="0">
                <a:solidFill>
                  <a:srgbClr val="E2E8F0"/>
                </a:solidFill>
              </a:rPr>
              <a:t>It makes a weak visual match an explicit review state rather than a confident global-catalogue guess.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ACB55F-30FF-47FF-8399-4C5947D4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2047875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B693E6-F83C-4BD6-B339-95A1250C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9625"/>
            <a:ext cx="1857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1" i="0">
                <a:solidFill>
                  <a:srgbClr val="6EE7B7"/>
                </a:solidFill>
              </a:defRPr>
            </a:defPPr>
            <a:lvl1pPr>
              <a:defRPr sz="825" b="1" i="0">
                <a:solidFill>
                  <a:srgbClr val="6EE7B7"/>
                </a:solidFill>
              </a:defRPr>
            </a:lvl1pPr>
            <a:lvl2pPr>
              <a:defRPr sz="825" b="1" i="0">
                <a:solidFill>
                  <a:srgbClr val="6EE7B7"/>
                </a:solidFill>
              </a:defRPr>
            </a:lvl2pPr>
            <a:lvl3pPr>
              <a:defRPr sz="825" b="1" i="0">
                <a:solidFill>
                  <a:srgbClr val="6EE7B7"/>
                </a:solidFill>
              </a:defRPr>
            </a:lvl3pPr>
            <a:lvl4pPr>
              <a:defRPr sz="825" b="1" i="0">
                <a:solidFill>
                  <a:srgbClr val="6EE7B7"/>
                </a:solidFill>
              </a:defRPr>
            </a:lvl4pPr>
            <a:lvl5pPr>
              <a:defRPr sz="825" b="1" i="0">
                <a:solidFill>
                  <a:srgbClr val="6EE7B7"/>
                </a:solidFill>
              </a:defRPr>
            </a:lvl5pPr>
            <a:lvl6pPr>
              <a:defRPr sz="825" b="1" i="0">
                <a:solidFill>
                  <a:srgbClr val="6EE7B7"/>
                </a:solidFill>
              </a:defRPr>
            </a:lvl6pPr>
            <a:lvl7pPr>
              <a:defRPr sz="825" b="1" i="0">
                <a:solidFill>
                  <a:srgbClr val="6EE7B7"/>
                </a:solidFill>
              </a:defRPr>
            </a:lvl7pPr>
            <a:lvl8pPr>
              <a:defRPr sz="825" b="1" i="0">
                <a:solidFill>
                  <a:srgbClr val="6EE7B7"/>
                </a:solidFill>
              </a:defRPr>
            </a:lvl8pPr>
            <a:lvl9pPr>
              <a:defRPr sz="8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EE7B7"/>
                </a:solidFill>
              </a:defRPr>
            </a:pPr>
            <a:r>
              <a:rPr sz="825" b="1" i="0">
                <a:solidFill>
                  <a:srgbClr val="6EE7B7"/>
                </a:solidFill>
              </a:rPr>
              <a:t>Snapshot-bound analysis cache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C6D55B-04BA-4E02-A068-8B701F07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080205-8A74-4581-8AF1-99E280ED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07  /  16</a:t>
            </a:r>
          </a:p>
        </p:txBody>
      </p:sp>
    </p:spTree>
    <p:extLst>
      <p:ext uri="{BB962C8B-B14F-4D97-AF65-F5344CB8AC3E}">
        <p14:creationId xmlns:p14="http://schemas.microsoft.com/office/powerpoint/2010/main" val="1126615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B9935-978A-4C74-8D30-12E81F02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77AFB-F0D5-49D9-94EE-AB03ECFA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Shelf parsing, row understanding, and cutout extraction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B08B9-2BF7-4C96-8DA1-DB449B67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YOLO weights detect product / empty-space and shelf-row evidence. Product detection and exact identity remain separate tasks.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B1643-3F5D-49F7-89C9-6369F41C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3C0A9-BA64-4AD7-947A-228DA3594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b68b11acc4d0a"/>
          <a:stretch xmlns:a="http://schemas.openxmlformats.org/drawingml/2006/main"/>
        </p:blipFill>
        <p:spPr>
          <a:xfrm xmlns:a="http://schemas.openxmlformats.org/drawingml/2006/main">
            <a:off x="552450" y="1790700"/>
            <a:ext cx="4000500" cy="4191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36FCD-EB99-4E1C-9CA8-C5CFB768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E2E8F0"/>
                </a:solidFill>
              </a:defRPr>
            </a:defPPr>
            <a:lvl1pPr>
              <a:defRPr sz="1050" b="1" i="0">
                <a:solidFill>
                  <a:srgbClr val="E2E8F0"/>
                </a:solidFill>
              </a:defRPr>
            </a:lvl1pPr>
            <a:lvl2pPr>
              <a:defRPr sz="1050" b="1" i="0">
                <a:solidFill>
                  <a:srgbClr val="E2E8F0"/>
                </a:solidFill>
              </a:defRPr>
            </a:lvl2pPr>
            <a:lvl3pPr>
              <a:defRPr sz="1050" b="1" i="0">
                <a:solidFill>
                  <a:srgbClr val="E2E8F0"/>
                </a:solidFill>
              </a:defRPr>
            </a:lvl3pPr>
            <a:lvl4pPr>
              <a:defRPr sz="1050" b="1" i="0">
                <a:solidFill>
                  <a:srgbClr val="E2E8F0"/>
                </a:solidFill>
              </a:defRPr>
            </a:lvl4pPr>
            <a:lvl5pPr>
              <a:defRPr sz="1050" b="1" i="0">
                <a:solidFill>
                  <a:srgbClr val="E2E8F0"/>
                </a:solidFill>
              </a:defRPr>
            </a:lvl5pPr>
            <a:lvl6pPr>
              <a:defRPr sz="1050" b="1" i="0">
                <a:solidFill>
                  <a:srgbClr val="E2E8F0"/>
                </a:solidFill>
              </a:defRPr>
            </a:lvl6pPr>
            <a:lvl7pPr>
              <a:defRPr sz="1050" b="1" i="0">
                <a:solidFill>
                  <a:srgbClr val="E2E8F0"/>
                </a:solidFill>
              </a:defRPr>
            </a:lvl7pPr>
            <a:lvl8pPr>
              <a:defRPr sz="1050" b="1" i="0">
                <a:solidFill>
                  <a:srgbClr val="E2E8F0"/>
                </a:solidFill>
              </a:defRPr>
            </a:lvl8pPr>
            <a:lvl9pPr>
              <a:defRPr sz="1050" b="1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E2E8F0"/>
                </a:solidFill>
              </a:defRPr>
            </a:pPr>
            <a:r>
              <a:rPr sz="1050" b="1" i="0">
                <a:solidFill>
                  <a:srgbClr val="E2E8F0"/>
                </a:solidFill>
              </a:rPr>
              <a:t>Stored annotated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57724-9CCC-4AB0-944F-B36D000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85950"/>
            <a:ext cx="6000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71D26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D69BD-B670-434B-949F-F7FACF74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050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2DD4BF"/>
                </a:solidFill>
              </a:defRPr>
            </a:defPPr>
            <a:lvl1pPr>
              <a:defRPr sz="1350" b="1" i="0">
                <a:solidFill>
                  <a:srgbClr val="2DD4BF"/>
                </a:solidFill>
              </a:defRPr>
            </a:lvl1pPr>
            <a:lvl2pPr>
              <a:defRPr sz="1350" b="1" i="0">
                <a:solidFill>
                  <a:srgbClr val="2DD4BF"/>
                </a:solidFill>
              </a:defRPr>
            </a:lvl2pPr>
            <a:lvl3pPr>
              <a:defRPr sz="1350" b="1" i="0">
                <a:solidFill>
                  <a:srgbClr val="2DD4BF"/>
                </a:solidFill>
              </a:defRPr>
            </a:lvl3pPr>
            <a:lvl4pPr>
              <a:defRPr sz="1350" b="1" i="0">
                <a:solidFill>
                  <a:srgbClr val="2DD4BF"/>
                </a:solidFill>
              </a:defRPr>
            </a:lvl4pPr>
            <a:lvl5pPr>
              <a:defRPr sz="1350" b="1" i="0">
                <a:solidFill>
                  <a:srgbClr val="2DD4BF"/>
                </a:solidFill>
              </a:defRPr>
            </a:lvl5pPr>
            <a:lvl6pPr>
              <a:defRPr sz="1350" b="1" i="0">
                <a:solidFill>
                  <a:srgbClr val="2DD4BF"/>
                </a:solidFill>
              </a:defRPr>
            </a:lvl6pPr>
            <a:lvl7pPr>
              <a:defRPr sz="1350" b="1" i="0">
                <a:solidFill>
                  <a:srgbClr val="2DD4BF"/>
                </a:solidFill>
              </a:defRPr>
            </a:lvl7pPr>
            <a:lvl8pPr>
              <a:defRPr sz="1350" b="1" i="0">
                <a:solidFill>
                  <a:srgbClr val="2DD4BF"/>
                </a:solidFill>
              </a:defRPr>
            </a:lvl8pPr>
            <a:lvl9pPr>
              <a:defRPr sz="13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2DD4BF"/>
                </a:solidFill>
              </a:defRPr>
            </a:pPr>
            <a:r>
              <a:rPr sz="1350" b="1" i="0">
                <a:solidFill>
                  <a:srgbClr val="2DD4BF"/>
                </a:solidFill>
              </a:rPr>
              <a:t>Current parsing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31CBE-4CAB-41EF-AEF3-D8A47C73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19350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Segments shelf rows, detects product and empty-space proposals, filters product crops below 0.60 confidence, and retains excluded boxes as uncertainty geometry.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CEDD3-795D-44A8-B434-3740531F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5755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Detection  →  Crop  →  Identity evidence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E05E0-8B5A-47CF-B5CF-A2DB7395C6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fa19ecace4f32"/>
          <a:stretch xmlns:a="http://schemas.openxmlformats.org/drawingml/2006/main"/>
        </p:blipFill>
        <p:spPr>
          <a:xfrm xmlns:a="http://schemas.openxmlformats.org/drawingml/2006/main">
            <a:off x="5191125" y="3733800"/>
            <a:ext cx="1114425" cy="1238250"/>
          </a:xfrm>
          <a:prstGeom xmlns:a="http://schemas.openxmlformats.org/drawingml/2006/main" prst="roundRect">
            <a:avLst>
              <a:gd name="adj" fmla="val 11966"/>
            </a:avLst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D83A3-1FE8-4E1F-BA6B-6A7A6866E8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4b40ec9cf4e1d"/>
          <a:stretch xmlns:a="http://schemas.openxmlformats.org/drawingml/2006/main"/>
        </p:blipFill>
        <p:spPr>
          <a:xfrm xmlns:a="http://schemas.openxmlformats.org/drawingml/2006/main">
            <a:off x="6572250" y="3733800"/>
            <a:ext cx="1114425" cy="1238250"/>
          </a:xfrm>
          <a:prstGeom xmlns:a="http://schemas.openxmlformats.org/drawingml/2006/main" prst="roundRect">
            <a:avLst>
              <a:gd name="adj" fmla="val 11966"/>
            </a:avLst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6F951-4540-40FA-BD3B-29F3FD994D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926b44b49430f"/>
          <a:stretch xmlns:a="http://schemas.openxmlformats.org/drawingml/2006/main"/>
        </p:blipFill>
        <p:spPr>
          <a:xfrm xmlns:a="http://schemas.openxmlformats.org/drawingml/2006/main">
            <a:off x="7953375" y="3733800"/>
            <a:ext cx="1114425" cy="1238250"/>
          </a:xfrm>
          <a:prstGeom xmlns:a="http://schemas.openxmlformats.org/drawingml/2006/main" prst="roundRect">
            <a:avLst>
              <a:gd name="adj" fmla="val 11966"/>
            </a:avLst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859E2-E09C-4345-B834-06E428D8AF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46fd884f64b0d"/>
          <a:stretch xmlns:a="http://schemas.openxmlformats.org/drawingml/2006/main"/>
        </p:blipFill>
        <p:spPr>
          <a:xfrm xmlns:a="http://schemas.openxmlformats.org/drawingml/2006/main">
            <a:off x="9334500" y="3733800"/>
            <a:ext cx="1114425" cy="1238250"/>
          </a:xfrm>
          <a:prstGeom xmlns:a="http://schemas.openxmlformats.org/drawingml/2006/main" prst="roundRect">
            <a:avLst>
              <a:gd name="adj" fmla="val 11966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08E1C-5CB6-4146-A75C-0A3D8020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0958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A8B1C1"/>
                </a:solidFill>
              </a:defRPr>
            </a:defPPr>
            <a:lvl1pPr>
              <a:defRPr sz="825" b="0" i="0">
                <a:solidFill>
                  <a:srgbClr val="A8B1C1"/>
                </a:solidFill>
              </a:defRPr>
            </a:lvl1pPr>
            <a:lvl2pPr>
              <a:defRPr sz="825" b="0" i="0">
                <a:solidFill>
                  <a:srgbClr val="A8B1C1"/>
                </a:solidFill>
              </a:defRPr>
            </a:lvl2pPr>
            <a:lvl3pPr>
              <a:defRPr sz="825" b="0" i="0">
                <a:solidFill>
                  <a:srgbClr val="A8B1C1"/>
                </a:solidFill>
              </a:defRPr>
            </a:lvl3pPr>
            <a:lvl4pPr>
              <a:defRPr sz="825" b="0" i="0">
                <a:solidFill>
                  <a:srgbClr val="A8B1C1"/>
                </a:solidFill>
              </a:defRPr>
            </a:lvl4pPr>
            <a:lvl5pPr>
              <a:defRPr sz="825" b="0" i="0">
                <a:solidFill>
                  <a:srgbClr val="A8B1C1"/>
                </a:solidFill>
              </a:defRPr>
            </a:lvl5pPr>
            <a:lvl6pPr>
              <a:defRPr sz="825" b="0" i="0">
                <a:solidFill>
                  <a:srgbClr val="A8B1C1"/>
                </a:solidFill>
              </a:defRPr>
            </a:lvl6pPr>
            <a:lvl7pPr>
              <a:defRPr sz="825" b="0" i="0">
                <a:solidFill>
                  <a:srgbClr val="A8B1C1"/>
                </a:solidFill>
              </a:defRPr>
            </a:lvl7pPr>
            <a:lvl8pPr>
              <a:defRPr sz="825" b="0" i="0">
                <a:solidFill>
                  <a:srgbClr val="A8B1C1"/>
                </a:solidFill>
              </a:defRPr>
            </a:lvl8pPr>
            <a:lvl9pPr>
              <a:defRPr sz="8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A8B1C1"/>
                </a:solidFill>
              </a:defRPr>
            </a:pPr>
            <a:r>
              <a:rPr sz="825" b="0" i="0">
                <a:solidFill>
                  <a:srgbClr val="A8B1C1"/>
                </a:solidFill>
              </a:rPr>
              <a:t>example crop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CE71D-06BB-4178-8B1A-B9F01B2A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A8B1C1"/>
                </a:solidFill>
              </a:defRPr>
            </a:defPPr>
            <a:lvl1pPr>
              <a:defRPr sz="825" b="0" i="0">
                <a:solidFill>
                  <a:srgbClr val="A8B1C1"/>
                </a:solidFill>
              </a:defRPr>
            </a:lvl1pPr>
            <a:lvl2pPr>
              <a:defRPr sz="825" b="0" i="0">
                <a:solidFill>
                  <a:srgbClr val="A8B1C1"/>
                </a:solidFill>
              </a:defRPr>
            </a:lvl2pPr>
            <a:lvl3pPr>
              <a:defRPr sz="825" b="0" i="0">
                <a:solidFill>
                  <a:srgbClr val="A8B1C1"/>
                </a:solidFill>
              </a:defRPr>
            </a:lvl3pPr>
            <a:lvl4pPr>
              <a:defRPr sz="825" b="0" i="0">
                <a:solidFill>
                  <a:srgbClr val="A8B1C1"/>
                </a:solidFill>
              </a:defRPr>
            </a:lvl4pPr>
            <a:lvl5pPr>
              <a:defRPr sz="825" b="0" i="0">
                <a:solidFill>
                  <a:srgbClr val="A8B1C1"/>
                </a:solidFill>
              </a:defRPr>
            </a:lvl5pPr>
            <a:lvl6pPr>
              <a:defRPr sz="825" b="0" i="0">
                <a:solidFill>
                  <a:srgbClr val="A8B1C1"/>
                </a:solidFill>
              </a:defRPr>
            </a:lvl6pPr>
            <a:lvl7pPr>
              <a:defRPr sz="825" b="0" i="0">
                <a:solidFill>
                  <a:srgbClr val="A8B1C1"/>
                </a:solidFill>
              </a:defRPr>
            </a:lvl7pPr>
            <a:lvl8pPr>
              <a:defRPr sz="825" b="0" i="0">
                <a:solidFill>
                  <a:srgbClr val="A8B1C1"/>
                </a:solidFill>
              </a:defRPr>
            </a:lvl8pPr>
            <a:lvl9pPr>
              <a:defRPr sz="8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A8B1C1"/>
                </a:solidFill>
              </a:defRPr>
            </a:pPr>
            <a:r>
              <a:rPr sz="825" b="0" i="0">
                <a:solidFill>
                  <a:srgbClr val="A8B1C1"/>
                </a:solidFill>
              </a:rPr>
              <a:t>example crop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1138E-CB3C-44BA-9550-A47B6C42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A8B1C1"/>
                </a:solidFill>
              </a:defRPr>
            </a:defPPr>
            <a:lvl1pPr>
              <a:defRPr sz="825" b="0" i="0">
                <a:solidFill>
                  <a:srgbClr val="A8B1C1"/>
                </a:solidFill>
              </a:defRPr>
            </a:lvl1pPr>
            <a:lvl2pPr>
              <a:defRPr sz="825" b="0" i="0">
                <a:solidFill>
                  <a:srgbClr val="A8B1C1"/>
                </a:solidFill>
              </a:defRPr>
            </a:lvl2pPr>
            <a:lvl3pPr>
              <a:defRPr sz="825" b="0" i="0">
                <a:solidFill>
                  <a:srgbClr val="A8B1C1"/>
                </a:solidFill>
              </a:defRPr>
            </a:lvl3pPr>
            <a:lvl4pPr>
              <a:defRPr sz="825" b="0" i="0">
                <a:solidFill>
                  <a:srgbClr val="A8B1C1"/>
                </a:solidFill>
              </a:defRPr>
            </a:lvl4pPr>
            <a:lvl5pPr>
              <a:defRPr sz="825" b="0" i="0">
                <a:solidFill>
                  <a:srgbClr val="A8B1C1"/>
                </a:solidFill>
              </a:defRPr>
            </a:lvl5pPr>
            <a:lvl6pPr>
              <a:defRPr sz="825" b="0" i="0">
                <a:solidFill>
                  <a:srgbClr val="A8B1C1"/>
                </a:solidFill>
              </a:defRPr>
            </a:lvl6pPr>
            <a:lvl7pPr>
              <a:defRPr sz="825" b="0" i="0">
                <a:solidFill>
                  <a:srgbClr val="A8B1C1"/>
                </a:solidFill>
              </a:defRPr>
            </a:lvl7pPr>
            <a:lvl8pPr>
              <a:defRPr sz="825" b="0" i="0">
                <a:solidFill>
                  <a:srgbClr val="A8B1C1"/>
                </a:solidFill>
              </a:defRPr>
            </a:lvl8pPr>
            <a:lvl9pPr>
              <a:defRPr sz="8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A8B1C1"/>
                </a:solidFill>
              </a:defRPr>
            </a:pPr>
            <a:r>
              <a:rPr sz="825" b="0" i="0">
                <a:solidFill>
                  <a:srgbClr val="A8B1C1"/>
                </a:solidFill>
              </a:rPr>
              <a:t>example crop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82069-94F2-4CC0-A83B-92E32D6B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95875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A8B1C1"/>
                </a:solidFill>
              </a:defRPr>
            </a:defPPr>
            <a:lvl1pPr>
              <a:defRPr sz="825" b="0" i="0">
                <a:solidFill>
                  <a:srgbClr val="A8B1C1"/>
                </a:solidFill>
              </a:defRPr>
            </a:lvl1pPr>
            <a:lvl2pPr>
              <a:defRPr sz="825" b="0" i="0">
                <a:solidFill>
                  <a:srgbClr val="A8B1C1"/>
                </a:solidFill>
              </a:defRPr>
            </a:lvl2pPr>
            <a:lvl3pPr>
              <a:defRPr sz="825" b="0" i="0">
                <a:solidFill>
                  <a:srgbClr val="A8B1C1"/>
                </a:solidFill>
              </a:defRPr>
            </a:lvl3pPr>
            <a:lvl4pPr>
              <a:defRPr sz="825" b="0" i="0">
                <a:solidFill>
                  <a:srgbClr val="A8B1C1"/>
                </a:solidFill>
              </a:defRPr>
            </a:lvl4pPr>
            <a:lvl5pPr>
              <a:defRPr sz="825" b="0" i="0">
                <a:solidFill>
                  <a:srgbClr val="A8B1C1"/>
                </a:solidFill>
              </a:defRPr>
            </a:lvl5pPr>
            <a:lvl6pPr>
              <a:defRPr sz="825" b="0" i="0">
                <a:solidFill>
                  <a:srgbClr val="A8B1C1"/>
                </a:solidFill>
              </a:defRPr>
            </a:lvl6pPr>
            <a:lvl7pPr>
              <a:defRPr sz="825" b="0" i="0">
                <a:solidFill>
                  <a:srgbClr val="A8B1C1"/>
                </a:solidFill>
              </a:defRPr>
            </a:lvl7pPr>
            <a:lvl8pPr>
              <a:defRPr sz="825" b="0" i="0">
                <a:solidFill>
                  <a:srgbClr val="A8B1C1"/>
                </a:solidFill>
              </a:defRPr>
            </a:lvl8pPr>
            <a:lvl9pPr>
              <a:defRPr sz="8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A8B1C1"/>
                </a:solidFill>
              </a:defRPr>
            </a:pPr>
            <a:r>
              <a:rPr sz="825" b="0" i="0">
                <a:solidFill>
                  <a:srgbClr val="A8B1C1"/>
                </a:solidFill>
              </a:rPr>
              <a:t>example crop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C0B53-D201-4F7A-86A7-51504DB4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543550"/>
            <a:ext cx="6000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E2328"/>
          </a:solidFill>
          <a:ln xmlns:a="http://schemas.openxmlformats.org/drawingml/2006/main" w="9525">
            <a:solidFill>
              <a:srgbClr val="6139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AB10F-8194-461B-B0FD-E1A76255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705475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 i="0">
                <a:solidFill>
                  <a:srgbClr val="FB7185"/>
                </a:solidFill>
              </a:defRPr>
            </a:defPPr>
            <a:lvl1pPr>
              <a:defRPr sz="1275" b="1" i="0">
                <a:solidFill>
                  <a:srgbClr val="FB7185"/>
                </a:solidFill>
              </a:defRPr>
            </a:lvl1pPr>
            <a:lvl2pPr>
              <a:defRPr sz="1275" b="1" i="0">
                <a:solidFill>
                  <a:srgbClr val="FB7185"/>
                </a:solidFill>
              </a:defRPr>
            </a:lvl2pPr>
            <a:lvl3pPr>
              <a:defRPr sz="1275" b="1" i="0">
                <a:solidFill>
                  <a:srgbClr val="FB7185"/>
                </a:solidFill>
              </a:defRPr>
            </a:lvl3pPr>
            <a:lvl4pPr>
              <a:defRPr sz="1275" b="1" i="0">
                <a:solidFill>
                  <a:srgbClr val="FB7185"/>
                </a:solidFill>
              </a:defRPr>
            </a:lvl4pPr>
            <a:lvl5pPr>
              <a:defRPr sz="1275" b="1" i="0">
                <a:solidFill>
                  <a:srgbClr val="FB7185"/>
                </a:solidFill>
              </a:defRPr>
            </a:lvl5pPr>
            <a:lvl6pPr>
              <a:defRPr sz="1275" b="1" i="0">
                <a:solidFill>
                  <a:srgbClr val="FB7185"/>
                </a:solidFill>
              </a:defRPr>
            </a:lvl6pPr>
            <a:lvl7pPr>
              <a:defRPr sz="1275" b="1" i="0">
                <a:solidFill>
                  <a:srgbClr val="FB7185"/>
                </a:solidFill>
              </a:defRPr>
            </a:lvl7pPr>
            <a:lvl8pPr>
              <a:defRPr sz="1275" b="1" i="0">
                <a:solidFill>
                  <a:srgbClr val="FB7185"/>
                </a:solidFill>
              </a:defRPr>
            </a:lvl8pPr>
            <a:lvl9pPr>
              <a:defRPr sz="1275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FB7185"/>
                </a:solidFill>
              </a:defRPr>
            </a:pPr>
            <a:r>
              <a:rPr sz="1275" b="1" i="0">
                <a:solidFill>
                  <a:srgbClr val="FB7185"/>
                </a:solidFill>
              </a:rPr>
              <a:t>Important boundary: a bounding box proves location, not the exact SKU or variant.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9FB2D-CCB1-4983-946F-12F69C40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3BF79-BAD1-4C7F-8D4B-32686287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08  /  16</a:t>
            </a:r>
          </a:p>
        </p:txBody>
      </p:sp>
    </p:spTree>
    <p:extLst>
      <p:ext uri="{BB962C8B-B14F-4D97-AF65-F5344CB8AC3E}">
        <p14:creationId xmlns:p14="http://schemas.microsoft.com/office/powerpoint/2010/main" val="340177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35D8D-2174-4016-89C3-B3DF7C23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F31A7-84C7-43CB-920E-C5452857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Catalogue matching and variant identification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99850-3E63-4742-8C12-FE0602B2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Exact catalogue matching uses crop-level evidence. Cluster consensus helps repeated shelf items but does not replace per-crop identity.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66D61-906D-4149-832D-1E38E187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CFB15-5404-4D16-A498-38AE6FF0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952625" cy="2476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61C25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08840-8036-470F-B9DE-ECD89610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2DD4BF"/>
                </a:solidFill>
              </a:defRPr>
            </a:defPPr>
            <a:lvl1pPr>
              <a:defRPr sz="1425" b="1" i="0">
                <a:solidFill>
                  <a:srgbClr val="2DD4BF"/>
                </a:solidFill>
              </a:defRPr>
            </a:lvl1pPr>
            <a:lvl2pPr>
              <a:defRPr sz="1425" b="1" i="0">
                <a:solidFill>
                  <a:srgbClr val="2DD4BF"/>
                </a:solidFill>
              </a:defRPr>
            </a:lvl2pPr>
            <a:lvl3pPr>
              <a:defRPr sz="1425" b="1" i="0">
                <a:solidFill>
                  <a:srgbClr val="2DD4BF"/>
                </a:solidFill>
              </a:defRPr>
            </a:lvl3pPr>
            <a:lvl4pPr>
              <a:defRPr sz="1425" b="1" i="0">
                <a:solidFill>
                  <a:srgbClr val="2DD4BF"/>
                </a:solidFill>
              </a:defRPr>
            </a:lvl4pPr>
            <a:lvl5pPr>
              <a:defRPr sz="1425" b="1" i="0">
                <a:solidFill>
                  <a:srgbClr val="2DD4BF"/>
                </a:solidFill>
              </a:defRPr>
            </a:lvl5pPr>
            <a:lvl6pPr>
              <a:defRPr sz="1425" b="1" i="0">
                <a:solidFill>
                  <a:srgbClr val="2DD4BF"/>
                </a:solidFill>
              </a:defRPr>
            </a:lvl6pPr>
            <a:lvl7pPr>
              <a:defRPr sz="1425" b="1" i="0">
                <a:solidFill>
                  <a:srgbClr val="2DD4BF"/>
                </a:solidFill>
              </a:defRPr>
            </a:lvl7pPr>
            <a:lvl8pPr>
              <a:defRPr sz="1425" b="1" i="0">
                <a:solidFill>
                  <a:srgbClr val="2DD4BF"/>
                </a:solidFill>
              </a:defRPr>
            </a:lvl8pPr>
            <a:lvl9pPr>
              <a:defRPr sz="1425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2DD4BF"/>
                </a:solidFill>
              </a:defRPr>
            </a:pPr>
            <a:r>
              <a:rPr sz="1425" b="1" i="0">
                <a:solidFill>
                  <a:srgbClr val="2DD4BF"/>
                </a:solidFill>
              </a:rPr>
              <a:t>1. Candidate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D5AA5-1A38-46AC-A842-EB3F8980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60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Use the frozen shelf catalogue only.</a:t>
            </a:r>
          </a:p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Color compatibility filters candidates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0A344-9797-4812-96F3-F6C5D412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19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 i="0">
                <a:solidFill>
                  <a:srgbClr val="708097"/>
                </a:solidFill>
              </a:defRPr>
            </a:defPPr>
            <a:lvl1pPr>
              <a:defRPr sz="2100" b="1" i="0">
                <a:solidFill>
                  <a:srgbClr val="708097"/>
                </a:solidFill>
              </a:defRPr>
            </a:lvl1pPr>
            <a:lvl2pPr>
              <a:defRPr sz="2100" b="1" i="0">
                <a:solidFill>
                  <a:srgbClr val="708097"/>
                </a:solidFill>
              </a:defRPr>
            </a:lvl2pPr>
            <a:lvl3pPr>
              <a:defRPr sz="2100" b="1" i="0">
                <a:solidFill>
                  <a:srgbClr val="708097"/>
                </a:solidFill>
              </a:defRPr>
            </a:lvl3pPr>
            <a:lvl4pPr>
              <a:defRPr sz="2100" b="1" i="0">
                <a:solidFill>
                  <a:srgbClr val="708097"/>
                </a:solidFill>
              </a:defRPr>
            </a:lvl4pPr>
            <a:lvl5pPr>
              <a:defRPr sz="2100" b="1" i="0">
                <a:solidFill>
                  <a:srgbClr val="708097"/>
                </a:solidFill>
              </a:defRPr>
            </a:lvl5pPr>
            <a:lvl6pPr>
              <a:defRPr sz="2100" b="1" i="0">
                <a:solidFill>
                  <a:srgbClr val="708097"/>
                </a:solidFill>
              </a:defRPr>
            </a:lvl6pPr>
            <a:lvl7pPr>
              <a:defRPr sz="2100" b="1" i="0">
                <a:solidFill>
                  <a:srgbClr val="708097"/>
                </a:solidFill>
              </a:defRPr>
            </a:lvl7pPr>
            <a:lvl8pPr>
              <a:defRPr sz="2100" b="1" i="0">
                <a:solidFill>
                  <a:srgbClr val="708097"/>
                </a:solidFill>
              </a:defRPr>
            </a:lvl8pPr>
            <a:lvl9pPr>
              <a:defRPr sz="2100" b="1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708097"/>
                </a:solidFill>
              </a:defRPr>
            </a:pPr>
            <a:r>
              <a:rPr sz="2100" b="1" i="0">
                <a:solidFill>
                  <a:srgbClr val="708097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DBB60-B597-49E2-802B-33EF4ACC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1952625" cy="2476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61C25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9E480-5791-4777-B486-703176D1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38BDF8"/>
                </a:solidFill>
              </a:defRPr>
            </a:defPPr>
            <a:lvl1pPr>
              <a:defRPr sz="1425" b="1" i="0">
                <a:solidFill>
                  <a:srgbClr val="38BDF8"/>
                </a:solidFill>
              </a:defRPr>
            </a:lvl1pPr>
            <a:lvl2pPr>
              <a:defRPr sz="1425" b="1" i="0">
                <a:solidFill>
                  <a:srgbClr val="38BDF8"/>
                </a:solidFill>
              </a:defRPr>
            </a:lvl2pPr>
            <a:lvl3pPr>
              <a:defRPr sz="1425" b="1" i="0">
                <a:solidFill>
                  <a:srgbClr val="38BDF8"/>
                </a:solidFill>
              </a:defRPr>
            </a:lvl3pPr>
            <a:lvl4pPr>
              <a:defRPr sz="1425" b="1" i="0">
                <a:solidFill>
                  <a:srgbClr val="38BDF8"/>
                </a:solidFill>
              </a:defRPr>
            </a:lvl4pPr>
            <a:lvl5pPr>
              <a:defRPr sz="1425" b="1" i="0">
                <a:solidFill>
                  <a:srgbClr val="38BDF8"/>
                </a:solidFill>
              </a:defRPr>
            </a:lvl5pPr>
            <a:lvl6pPr>
              <a:defRPr sz="1425" b="1" i="0">
                <a:solidFill>
                  <a:srgbClr val="38BDF8"/>
                </a:solidFill>
              </a:defRPr>
            </a:lvl6pPr>
            <a:lvl7pPr>
              <a:defRPr sz="1425" b="1" i="0">
                <a:solidFill>
                  <a:srgbClr val="38BDF8"/>
                </a:solidFill>
              </a:defRPr>
            </a:lvl7pPr>
            <a:lvl8pPr>
              <a:defRPr sz="1425" b="1" i="0">
                <a:solidFill>
                  <a:srgbClr val="38BDF8"/>
                </a:solidFill>
              </a:defRPr>
            </a:lvl8pPr>
            <a:lvl9pPr>
              <a:defRPr sz="1425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38BDF8"/>
                </a:solidFill>
              </a:defRPr>
            </a:pPr>
            <a:r>
              <a:rPr sz="1425" b="1" i="0">
                <a:solidFill>
                  <a:srgbClr val="38BDF8"/>
                </a:solidFill>
              </a:rPr>
              <a:t>2. Visual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58315-6687-4AE9-A0E3-26B0EDF9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160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Compare crop embedding with packshot embeddings using CLIP cosine similarity.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4FBDE-4C55-49A0-B84A-288769DE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19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 i="0">
                <a:solidFill>
                  <a:srgbClr val="708097"/>
                </a:solidFill>
              </a:defRPr>
            </a:defPPr>
            <a:lvl1pPr>
              <a:defRPr sz="2100" b="1" i="0">
                <a:solidFill>
                  <a:srgbClr val="708097"/>
                </a:solidFill>
              </a:defRPr>
            </a:lvl1pPr>
            <a:lvl2pPr>
              <a:defRPr sz="2100" b="1" i="0">
                <a:solidFill>
                  <a:srgbClr val="708097"/>
                </a:solidFill>
              </a:defRPr>
            </a:lvl2pPr>
            <a:lvl3pPr>
              <a:defRPr sz="2100" b="1" i="0">
                <a:solidFill>
                  <a:srgbClr val="708097"/>
                </a:solidFill>
              </a:defRPr>
            </a:lvl3pPr>
            <a:lvl4pPr>
              <a:defRPr sz="2100" b="1" i="0">
                <a:solidFill>
                  <a:srgbClr val="708097"/>
                </a:solidFill>
              </a:defRPr>
            </a:lvl4pPr>
            <a:lvl5pPr>
              <a:defRPr sz="2100" b="1" i="0">
                <a:solidFill>
                  <a:srgbClr val="708097"/>
                </a:solidFill>
              </a:defRPr>
            </a:lvl5pPr>
            <a:lvl6pPr>
              <a:defRPr sz="2100" b="1" i="0">
                <a:solidFill>
                  <a:srgbClr val="708097"/>
                </a:solidFill>
              </a:defRPr>
            </a:lvl6pPr>
            <a:lvl7pPr>
              <a:defRPr sz="2100" b="1" i="0">
                <a:solidFill>
                  <a:srgbClr val="708097"/>
                </a:solidFill>
              </a:defRPr>
            </a:lvl7pPr>
            <a:lvl8pPr>
              <a:defRPr sz="2100" b="1" i="0">
                <a:solidFill>
                  <a:srgbClr val="708097"/>
                </a:solidFill>
              </a:defRPr>
            </a:lvl8pPr>
            <a:lvl9pPr>
              <a:defRPr sz="2100" b="1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708097"/>
                </a:solidFill>
              </a:defRPr>
            </a:pPr>
            <a:r>
              <a:rPr sz="2100" b="1" i="0">
                <a:solidFill>
                  <a:srgbClr val="708097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FEF29-A0A0-4602-8F09-1A3E1E7C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1952625" cy="2476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61C25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71A88-BD4B-42B7-9DE4-1DA87398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86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F59E0B"/>
                </a:solidFill>
              </a:defRPr>
            </a:defPPr>
            <a:lvl1pPr>
              <a:defRPr sz="1425" b="1" i="0">
                <a:solidFill>
                  <a:srgbClr val="F59E0B"/>
                </a:solidFill>
              </a:defRPr>
            </a:lvl1pPr>
            <a:lvl2pPr>
              <a:defRPr sz="1425" b="1" i="0">
                <a:solidFill>
                  <a:srgbClr val="F59E0B"/>
                </a:solidFill>
              </a:defRPr>
            </a:lvl2pPr>
            <a:lvl3pPr>
              <a:defRPr sz="1425" b="1" i="0">
                <a:solidFill>
                  <a:srgbClr val="F59E0B"/>
                </a:solidFill>
              </a:defRPr>
            </a:lvl3pPr>
            <a:lvl4pPr>
              <a:defRPr sz="1425" b="1" i="0">
                <a:solidFill>
                  <a:srgbClr val="F59E0B"/>
                </a:solidFill>
              </a:defRPr>
            </a:lvl4pPr>
            <a:lvl5pPr>
              <a:defRPr sz="1425" b="1" i="0">
                <a:solidFill>
                  <a:srgbClr val="F59E0B"/>
                </a:solidFill>
              </a:defRPr>
            </a:lvl5pPr>
            <a:lvl6pPr>
              <a:defRPr sz="1425" b="1" i="0">
                <a:solidFill>
                  <a:srgbClr val="F59E0B"/>
                </a:solidFill>
              </a:defRPr>
            </a:lvl6pPr>
            <a:lvl7pPr>
              <a:defRPr sz="1425" b="1" i="0">
                <a:solidFill>
                  <a:srgbClr val="F59E0B"/>
                </a:solidFill>
              </a:defRPr>
            </a:lvl7pPr>
            <a:lvl8pPr>
              <a:defRPr sz="1425" b="1" i="0">
                <a:solidFill>
                  <a:srgbClr val="F59E0B"/>
                </a:solidFill>
              </a:defRPr>
            </a:lvl8pPr>
            <a:lvl9pPr>
              <a:defRPr sz="1425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F59E0B"/>
                </a:solidFill>
              </a:defRPr>
            </a:pPr>
            <a:r>
              <a:rPr sz="1425" b="1" i="0">
                <a:solidFill>
                  <a:srgbClr val="F59E0B"/>
                </a:solidFill>
              </a:rPr>
              <a:t>3. Decision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90537-0909-499B-ADB6-4176698F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43250"/>
            <a:ext cx="160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Accept only when score and margin clear provisional thresholds. Otherwise keep reviewable.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28A430-E496-4641-8B91-073D43E2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19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 i="0">
                <a:solidFill>
                  <a:srgbClr val="708097"/>
                </a:solidFill>
              </a:defRPr>
            </a:defPPr>
            <a:lvl1pPr>
              <a:defRPr sz="2100" b="1" i="0">
                <a:solidFill>
                  <a:srgbClr val="708097"/>
                </a:solidFill>
              </a:defRPr>
            </a:lvl1pPr>
            <a:lvl2pPr>
              <a:defRPr sz="2100" b="1" i="0">
                <a:solidFill>
                  <a:srgbClr val="708097"/>
                </a:solidFill>
              </a:defRPr>
            </a:lvl2pPr>
            <a:lvl3pPr>
              <a:defRPr sz="2100" b="1" i="0">
                <a:solidFill>
                  <a:srgbClr val="708097"/>
                </a:solidFill>
              </a:defRPr>
            </a:lvl3pPr>
            <a:lvl4pPr>
              <a:defRPr sz="2100" b="1" i="0">
                <a:solidFill>
                  <a:srgbClr val="708097"/>
                </a:solidFill>
              </a:defRPr>
            </a:lvl4pPr>
            <a:lvl5pPr>
              <a:defRPr sz="2100" b="1" i="0">
                <a:solidFill>
                  <a:srgbClr val="708097"/>
                </a:solidFill>
              </a:defRPr>
            </a:lvl5pPr>
            <a:lvl6pPr>
              <a:defRPr sz="2100" b="1" i="0">
                <a:solidFill>
                  <a:srgbClr val="708097"/>
                </a:solidFill>
              </a:defRPr>
            </a:lvl6pPr>
            <a:lvl7pPr>
              <a:defRPr sz="2100" b="1" i="0">
                <a:solidFill>
                  <a:srgbClr val="708097"/>
                </a:solidFill>
              </a:defRPr>
            </a:lvl7pPr>
            <a:lvl8pPr>
              <a:defRPr sz="2100" b="1" i="0">
                <a:solidFill>
                  <a:srgbClr val="708097"/>
                </a:solidFill>
              </a:defRPr>
            </a:lvl8pPr>
            <a:lvl9pPr>
              <a:defRPr sz="2100" b="1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708097"/>
                </a:solidFill>
              </a:defRPr>
            </a:pPr>
            <a:r>
              <a:rPr sz="2100" b="1" i="0">
                <a:solidFill>
                  <a:srgbClr val="708097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0F669-EDD2-4EE9-A30C-0AE754C1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1952625" cy="2476500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61C25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AE095-522C-44CD-8032-2F8809D5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86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6EE7B7"/>
                </a:solidFill>
              </a:defRPr>
            </a:defPPr>
            <a:lvl1pPr>
              <a:defRPr sz="1425" b="1" i="0">
                <a:solidFill>
                  <a:srgbClr val="6EE7B7"/>
                </a:solidFill>
              </a:defRPr>
            </a:lvl1pPr>
            <a:lvl2pPr>
              <a:defRPr sz="1425" b="1" i="0">
                <a:solidFill>
                  <a:srgbClr val="6EE7B7"/>
                </a:solidFill>
              </a:defRPr>
            </a:lvl2pPr>
            <a:lvl3pPr>
              <a:defRPr sz="1425" b="1" i="0">
                <a:solidFill>
                  <a:srgbClr val="6EE7B7"/>
                </a:solidFill>
              </a:defRPr>
            </a:lvl3pPr>
            <a:lvl4pPr>
              <a:defRPr sz="1425" b="1" i="0">
                <a:solidFill>
                  <a:srgbClr val="6EE7B7"/>
                </a:solidFill>
              </a:defRPr>
            </a:lvl4pPr>
            <a:lvl5pPr>
              <a:defRPr sz="1425" b="1" i="0">
                <a:solidFill>
                  <a:srgbClr val="6EE7B7"/>
                </a:solidFill>
              </a:defRPr>
            </a:lvl5pPr>
            <a:lvl6pPr>
              <a:defRPr sz="1425" b="1" i="0">
                <a:solidFill>
                  <a:srgbClr val="6EE7B7"/>
                </a:solidFill>
              </a:defRPr>
            </a:lvl6pPr>
            <a:lvl7pPr>
              <a:defRPr sz="1425" b="1" i="0">
                <a:solidFill>
                  <a:srgbClr val="6EE7B7"/>
                </a:solidFill>
              </a:defRPr>
            </a:lvl7pPr>
            <a:lvl8pPr>
              <a:defRPr sz="1425" b="1" i="0">
                <a:solidFill>
                  <a:srgbClr val="6EE7B7"/>
                </a:solidFill>
              </a:defRPr>
            </a:lvl8pPr>
            <a:lvl9pPr>
              <a:defRPr sz="14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6EE7B7"/>
                </a:solidFill>
              </a:defRPr>
            </a:pPr>
            <a:r>
              <a:rPr sz="1425" b="1" i="0">
                <a:solidFill>
                  <a:srgbClr val="6EE7B7"/>
                </a:solidFill>
              </a:rPr>
              <a:t>4. Cluster consensus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13E8F-A849-4AEC-ABF6-4537D7EC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160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Consolidate only a clear same-row catalogue majority. Preserve individual matches.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AEAA6-3646-4166-9216-780F5A9F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9953625" cy="6000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B22"/>
          </a:solidFill>
          <a:ln xmlns:a="http://schemas.openxmlformats.org/drawingml/2006/main" w="9525">
            <a:solidFill>
              <a:srgbClr val="2B53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A06CE-B115-4CD7-BD77-D475EEDC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911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38BDF8"/>
                </a:solidFill>
              </a:defRPr>
            </a:defPPr>
            <a:lvl1pPr>
              <a:defRPr sz="1050" b="1" i="0">
                <a:solidFill>
                  <a:srgbClr val="38BDF8"/>
                </a:solidFill>
              </a:defRPr>
            </a:lvl1pPr>
            <a:lvl2pPr>
              <a:defRPr sz="1050" b="1" i="0">
                <a:solidFill>
                  <a:srgbClr val="38BDF8"/>
                </a:solidFill>
              </a:defRPr>
            </a:lvl2pPr>
            <a:lvl3pPr>
              <a:defRPr sz="1050" b="1" i="0">
                <a:solidFill>
                  <a:srgbClr val="38BDF8"/>
                </a:solidFill>
              </a:defRPr>
            </a:lvl3pPr>
            <a:lvl4pPr>
              <a:defRPr sz="1050" b="1" i="0">
                <a:solidFill>
                  <a:srgbClr val="38BDF8"/>
                </a:solidFill>
              </a:defRPr>
            </a:lvl4pPr>
            <a:lvl5pPr>
              <a:defRPr sz="1050" b="1" i="0">
                <a:solidFill>
                  <a:srgbClr val="38BDF8"/>
                </a:solidFill>
              </a:defRPr>
            </a:lvl5pPr>
            <a:lvl6pPr>
              <a:defRPr sz="1050" b="1" i="0">
                <a:solidFill>
                  <a:srgbClr val="38BDF8"/>
                </a:solidFill>
              </a:defRPr>
            </a:lvl6pPr>
            <a:lvl7pPr>
              <a:defRPr sz="1050" b="1" i="0">
                <a:solidFill>
                  <a:srgbClr val="38BDF8"/>
                </a:solidFill>
              </a:defRPr>
            </a:lvl7pPr>
            <a:lvl8pPr>
              <a:defRPr sz="1050" b="1" i="0">
                <a:solidFill>
                  <a:srgbClr val="38BDF8"/>
                </a:solidFill>
              </a:defRPr>
            </a:lvl8pPr>
            <a:lvl9pPr>
              <a:defRPr sz="105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38BDF8"/>
                </a:solidFill>
              </a:defRPr>
            </a:pPr>
            <a:r>
              <a:rPr sz="1050" b="1" i="0">
                <a:solidFill>
                  <a:srgbClr val="38BDF8"/>
                </a:solidFill>
              </a:rPr>
              <a:t>Current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A7D35-9C45-4FED-9128-BF5E86E3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4352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F8FAFC"/>
                </a:solidFill>
              </a:defRPr>
            </a:defPPr>
            <a:lvl1pPr>
              <a:defRPr sz="1200" b="0" i="0">
                <a:solidFill>
                  <a:srgbClr val="F8FAFC"/>
                </a:solidFill>
              </a:defRPr>
            </a:lvl1pPr>
            <a:lvl2pPr>
              <a:defRPr sz="1200" b="0" i="0">
                <a:solidFill>
                  <a:srgbClr val="F8FAFC"/>
                </a:solidFill>
              </a:defRPr>
            </a:lvl2pPr>
            <a:lvl3pPr>
              <a:defRPr sz="1200" b="0" i="0">
                <a:solidFill>
                  <a:srgbClr val="F8FAFC"/>
                </a:solidFill>
              </a:defRPr>
            </a:lvl3pPr>
            <a:lvl4pPr>
              <a:defRPr sz="1200" b="0" i="0">
                <a:solidFill>
                  <a:srgbClr val="F8FAFC"/>
                </a:solidFill>
              </a:defRPr>
            </a:lvl4pPr>
            <a:lvl5pPr>
              <a:defRPr sz="1200" b="0" i="0">
                <a:solidFill>
                  <a:srgbClr val="F8FAFC"/>
                </a:solidFill>
              </a:defRPr>
            </a:lvl5pPr>
            <a:lvl6pPr>
              <a:defRPr sz="1200" b="0" i="0">
                <a:solidFill>
                  <a:srgbClr val="F8FAFC"/>
                </a:solidFill>
              </a:defRPr>
            </a:lvl6pPr>
            <a:lvl7pPr>
              <a:defRPr sz="1200" b="0" i="0">
                <a:solidFill>
                  <a:srgbClr val="F8FAFC"/>
                </a:solidFill>
              </a:defRPr>
            </a:lvl7pPr>
            <a:lvl8pPr>
              <a:defRPr sz="1200" b="0" i="0">
                <a:solidFill>
                  <a:srgbClr val="F8FAFC"/>
                </a:solidFill>
              </a:defRPr>
            </a:lvl8pPr>
            <a:lvl9pPr>
              <a:defRPr sz="120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F8FAFC"/>
                </a:solidFill>
              </a:defRPr>
            </a:pPr>
            <a:r>
              <a:rPr sz="1200" b="0" i="0">
                <a:solidFill>
                  <a:srgbClr val="F8FAFC"/>
                </a:solidFill>
              </a:rPr>
              <a:t>CLIP score 0.90 and ambiguity margin 0.03 are present in code but require controlled crop-level calibration. No trained YOLO SKU-classifier or variant accuracy metric is claimed.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085FA-39CD-4738-BDB2-F9987526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2090F6-8CD4-463F-B049-4B3E7DA1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09  /  16</a:t>
            </a:r>
          </a:p>
        </p:txBody>
      </p:sp>
    </p:spTree>
    <p:extLst>
      <p:ext uri="{BB962C8B-B14F-4D97-AF65-F5344CB8AC3E}">
        <p14:creationId xmlns:p14="http://schemas.microsoft.com/office/powerpoint/2010/main" val="19378071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5FB09FB-39E6-4207-BB4F-211573FD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C1774-B71F-4FD5-B475-9E249BE4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Planogram coordinate mapping and compliance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5C7E6-3675-48D5-B8AF-0E091463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audit compares expected facing slots with observed, calibrated crop positions in the same row coordinate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CFA5B-0080-4085-8471-80C803B4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1EB97-FE18-47CF-B22A-FCEC810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04825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151B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37E3A-EE7F-4FA0-BDAE-F887A378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0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2DD4BF"/>
                </a:solidFill>
              </a:defRPr>
            </a:defPPr>
            <a:lvl1pPr>
              <a:defRPr sz="1425" b="1" i="0">
                <a:solidFill>
                  <a:srgbClr val="2DD4BF"/>
                </a:solidFill>
              </a:defRPr>
            </a:lvl1pPr>
            <a:lvl2pPr>
              <a:defRPr sz="1425" b="1" i="0">
                <a:solidFill>
                  <a:srgbClr val="2DD4BF"/>
                </a:solidFill>
              </a:defRPr>
            </a:lvl2pPr>
            <a:lvl3pPr>
              <a:defRPr sz="1425" b="1" i="0">
                <a:solidFill>
                  <a:srgbClr val="2DD4BF"/>
                </a:solidFill>
              </a:defRPr>
            </a:lvl3pPr>
            <a:lvl4pPr>
              <a:defRPr sz="1425" b="1" i="0">
                <a:solidFill>
                  <a:srgbClr val="2DD4BF"/>
                </a:solidFill>
              </a:defRPr>
            </a:lvl4pPr>
            <a:lvl5pPr>
              <a:defRPr sz="1425" b="1" i="0">
                <a:solidFill>
                  <a:srgbClr val="2DD4BF"/>
                </a:solidFill>
              </a:defRPr>
            </a:lvl5pPr>
            <a:lvl6pPr>
              <a:defRPr sz="1425" b="1" i="0">
                <a:solidFill>
                  <a:srgbClr val="2DD4BF"/>
                </a:solidFill>
              </a:defRPr>
            </a:lvl6pPr>
            <a:lvl7pPr>
              <a:defRPr sz="1425" b="1" i="0">
                <a:solidFill>
                  <a:srgbClr val="2DD4BF"/>
                </a:solidFill>
              </a:defRPr>
            </a:lvl7pPr>
            <a:lvl8pPr>
              <a:defRPr sz="1425" b="1" i="0">
                <a:solidFill>
                  <a:srgbClr val="2DD4BF"/>
                </a:solidFill>
              </a:defRPr>
            </a:lvl8pPr>
            <a:lvl9pPr>
              <a:defRPr sz="1425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2DD4BF"/>
                </a:solidFill>
              </a:defRPr>
            </a:pPr>
            <a:r>
              <a:rPr sz="1425" b="1" i="0">
                <a:solidFill>
                  <a:srgbClr val="2DD4BF"/>
                </a:solidFill>
              </a:rPr>
              <a:t>Expected planogram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AFF67-E58F-4EF9-BA5B-1548F94E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6670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9CFA5-7D46-4D3F-8D1E-371274C0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81275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D32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8A409-941B-44E7-B491-447D3F82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0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D5903-824D-44A5-9458-941BC307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89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88487-5357-4B69-8867-9CBB3083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87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3D388-13F0-48B7-A2B8-2043F9EB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09ACF-F237-40A5-92D6-613CB0F3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A2455-E91D-49C6-A60F-E83731FA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369C4-457D-4759-83AC-FD85FC3E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80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4633D-2323-4E44-AC49-A78CD757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17C07-68EA-4EBF-9002-C3544968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76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389DD-F3DB-49DC-BE56-49038AEA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F0FCD-DAAF-40F5-A168-74B38358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73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8C47A-6069-42CF-B60E-B18382DA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1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7206F-3ED8-4612-B083-08BA49B3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CEDA5-9C15-4F06-91F2-1C9FEFEA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957E2-8C43-4BA9-A41A-4AF5B6C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324EA1-954D-4436-8D43-B0CB5108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718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BE4C1-39A6-4B39-8DBB-E6E554A0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086100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D4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B81D5A-D827-4422-B66B-FEFCE96D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0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5FBC35-4577-4C19-A1CD-B78BA679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89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DAD33-27B2-4A75-87D0-07B29777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87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9DB1E8-AFA0-42D9-8DDC-0F0600A2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472391-D22A-472C-9A4C-0503FE78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915920-870D-408E-86C5-796BB60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3194AA-A039-451F-AF7D-A7452FFE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80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0304A4-BF8D-4C45-9421-067E5694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904934-ADB5-4790-936A-E3ACC045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76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7E2AC-0C0F-4E42-8801-5AA7147A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D2B055-310D-4544-90F3-D9310EF8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73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11962A-F8C7-4534-A309-04DB555F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1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21FAA6-8A4F-4759-9A00-54CF2D47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6F17C3-3532-434A-AAFB-D0FB8C71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CF52B8-13B2-4EFB-A172-78227BA7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1A7EC5-3ECE-4C91-B8F8-17FDDB1B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766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3B4E95-0879-489B-A92E-40307130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90925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84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569C0B-1213-4D3B-B7CE-5BB5C4CD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0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5F9863-2EB9-4544-A975-595148F3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89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4303EA-6646-4197-9244-6EF5D985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87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D87904-CDD2-41A8-BA78-56A1AF0A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33A1F7-90C0-43EB-80E0-80AE9F3C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F4D736-6C45-4638-ADB2-C13B25B4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FC6179-CB76-4309-A8EE-835833ED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80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6A6ECC-503C-4C0D-A89D-2A2A4B72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0EF216-10C0-4FF2-B880-A16E34BC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76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21B5B5-599D-47A1-BADE-138CEF10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EB2E8A-8B8B-4D71-911D-99A3ABD6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73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7EBFB8-0CF7-4EF5-A4FC-49F864A8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1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856C69-539D-4D2D-A7F8-3A49EC8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87CE1A-4D31-412F-8E79-8952C195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CA4964-5F89-4DD7-B2DE-D0BCB486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5F274C-B5B7-4D37-9C9D-2F4A9FA5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814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5135F4-381B-4780-9DC9-669EC5D7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95750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223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83F1C4E-3B2B-436A-8B24-CEBE2D3E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0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CFA55B-B902-4461-8E3E-3B0D61BC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89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39C5DA-0188-4FB2-832E-CE0E9675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87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142F08-2D41-44F9-95E0-6C460CB6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85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535F6D-5868-4BA3-B2DB-3D27A9F5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DC1AD7-262A-48F8-9F72-1E8BD1AD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546F7B-B87C-45E0-8084-FE9E64EC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80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145AD2-0D8C-4AED-A2B3-D55CB8DE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78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1292DD-B082-4B4D-AA5B-8A4E2E57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76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9AFA81-2348-46DC-A91C-53D706F1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C84CAFF-DF8B-40A1-89E8-5F46070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673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3A3E389-C1F5-417C-BEF4-9E1570A7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1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1C1988-A430-4F20-B397-9E9FA12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69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80389A9-8943-4288-A673-B6B720FC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D3A7D84-F1E9-4405-AA91-842FAC6D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66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1E9342E-C28B-4439-9737-830155AB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E2E8F0"/>
                </a:solidFill>
              </a:defRPr>
            </a:defPPr>
            <a:lvl1pPr>
              <a:defRPr sz="975" b="0" i="0">
                <a:solidFill>
                  <a:srgbClr val="E2E8F0"/>
                </a:solidFill>
              </a:defRPr>
            </a:lvl1pPr>
            <a:lvl2pPr>
              <a:defRPr sz="975" b="0" i="0">
                <a:solidFill>
                  <a:srgbClr val="E2E8F0"/>
                </a:solidFill>
              </a:defRPr>
            </a:lvl2pPr>
            <a:lvl3pPr>
              <a:defRPr sz="975" b="0" i="0">
                <a:solidFill>
                  <a:srgbClr val="E2E8F0"/>
                </a:solidFill>
              </a:defRPr>
            </a:lvl3pPr>
            <a:lvl4pPr>
              <a:defRPr sz="975" b="0" i="0">
                <a:solidFill>
                  <a:srgbClr val="E2E8F0"/>
                </a:solidFill>
              </a:defRPr>
            </a:lvl4pPr>
            <a:lvl5pPr>
              <a:defRPr sz="975" b="0" i="0">
                <a:solidFill>
                  <a:srgbClr val="E2E8F0"/>
                </a:solidFill>
              </a:defRPr>
            </a:lvl5pPr>
            <a:lvl6pPr>
              <a:defRPr sz="975" b="0" i="0">
                <a:solidFill>
                  <a:srgbClr val="E2E8F0"/>
                </a:solidFill>
              </a:defRPr>
            </a:lvl6pPr>
            <a:lvl7pPr>
              <a:defRPr sz="975" b="0" i="0">
                <a:solidFill>
                  <a:srgbClr val="E2E8F0"/>
                </a:solidFill>
              </a:defRPr>
            </a:lvl7pPr>
            <a:lvl8pPr>
              <a:defRPr sz="975" b="0" i="0">
                <a:solidFill>
                  <a:srgbClr val="E2E8F0"/>
                </a:solidFill>
              </a:defRPr>
            </a:lvl8pPr>
            <a:lvl9pPr>
              <a:defRPr sz="97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E2E8F0"/>
                </a:solidFill>
              </a:defRPr>
            </a:pPr>
            <a:r>
              <a:rPr sz="975" b="0" i="0">
                <a:solidFill>
                  <a:srgbClr val="E2E8F0"/>
                </a:solidFill>
              </a:rPr>
              <a:t>15 expected facings per row  |  width 120 cm  |  top-to-bottom row index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C1BF6E4-326A-46B9-8A92-3D5BF3D7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504825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151B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2DCA1C3-4E6E-469A-89AC-C6282FB7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0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 i="0">
                <a:solidFill>
                  <a:srgbClr val="38BDF8"/>
                </a:solidFill>
              </a:defRPr>
            </a:defPPr>
            <a:lvl1pPr>
              <a:defRPr sz="1425" b="1" i="0">
                <a:solidFill>
                  <a:srgbClr val="38BDF8"/>
                </a:solidFill>
              </a:defRPr>
            </a:lvl1pPr>
            <a:lvl2pPr>
              <a:defRPr sz="1425" b="1" i="0">
                <a:solidFill>
                  <a:srgbClr val="38BDF8"/>
                </a:solidFill>
              </a:defRPr>
            </a:lvl2pPr>
            <a:lvl3pPr>
              <a:defRPr sz="1425" b="1" i="0">
                <a:solidFill>
                  <a:srgbClr val="38BDF8"/>
                </a:solidFill>
              </a:defRPr>
            </a:lvl3pPr>
            <a:lvl4pPr>
              <a:defRPr sz="1425" b="1" i="0">
                <a:solidFill>
                  <a:srgbClr val="38BDF8"/>
                </a:solidFill>
              </a:defRPr>
            </a:lvl4pPr>
            <a:lvl5pPr>
              <a:defRPr sz="1425" b="1" i="0">
                <a:solidFill>
                  <a:srgbClr val="38BDF8"/>
                </a:solidFill>
              </a:defRPr>
            </a:lvl5pPr>
            <a:lvl6pPr>
              <a:defRPr sz="1425" b="1" i="0">
                <a:solidFill>
                  <a:srgbClr val="38BDF8"/>
                </a:solidFill>
              </a:defRPr>
            </a:lvl6pPr>
            <a:lvl7pPr>
              <a:defRPr sz="1425" b="1" i="0">
                <a:solidFill>
                  <a:srgbClr val="38BDF8"/>
                </a:solidFill>
              </a:defRPr>
            </a:lvl7pPr>
            <a:lvl8pPr>
              <a:defRPr sz="1425" b="1" i="0">
                <a:solidFill>
                  <a:srgbClr val="38BDF8"/>
                </a:solidFill>
              </a:defRPr>
            </a:lvl8pPr>
            <a:lvl9pPr>
              <a:defRPr sz="1425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38BDF8"/>
                </a:solidFill>
              </a:defRPr>
            </a:pPr>
            <a:r>
              <a:rPr sz="1425" b="1" i="0">
                <a:solidFill>
                  <a:srgbClr val="38BDF8"/>
                </a:solidFill>
              </a:rPr>
              <a:t>Observed shelf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5B32C1-A5CB-475F-AAC8-A0E1862F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670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1B9B8AE-A034-4867-8BAF-4E835202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581275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D32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A0B8DE-5971-4313-9485-BE9ABC50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0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D803D9-747C-4CD6-8886-83D92F7E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99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ABC2F26-2885-4F0D-9ABF-1699BFE3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97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2EC33EA-8BE1-41BC-AD95-AE2561FF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5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06D70EA-79C1-455E-9FC0-BF9684CA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D15B14E-FF12-49A6-9F36-1D57691A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EB759E5-1E64-4564-B257-B0ECE28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90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C9681C0-6F5E-4D8E-A6C7-C1A788A0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2A759EA-3A92-4168-8B93-39D47ACA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6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A27091F-EB17-4EF1-9AE3-EB309058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059E2F0-48D0-403B-A0BC-33410668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83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0E55039-0BCE-4BB5-8C83-E0E7E8FE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80ADCAB-F780-4B12-B29F-3605A384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1A6225F-E292-4B50-BEB8-38D3E46E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780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2BF37C8-8E74-4333-9425-38988F67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763" y="258127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80E539B-AC93-4ED0-BC3C-B682ACCE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718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4F81FD-3D2C-4AEB-A30B-BC58E5F8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86100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D4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3248A88-D13F-42F3-B4AA-53F6D519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0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9ECE7AC-3C00-4EBE-9C04-2DCA0419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99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B80D72D-49F3-4D2F-ABF0-8BF60418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97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FAA346C-8425-4017-A85D-C004275F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5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4AB4E24-E403-43EA-B34D-1186CAE6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4FA606-973F-4A60-A590-36A3A1B1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9DB9DB9-28A6-467E-A8C7-C301704B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90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2914055-6FEA-425E-AB2B-A0C14579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5E601C2-507E-4475-9FE6-98849DFB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6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A79F857-C172-44EA-BBB7-80F3B434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43A381C-D7C4-4155-9753-C2712589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83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7A060DE-5724-44BE-A66A-846F99B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BBDC903-C0F9-46BC-9186-3BED6DA9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735BFD2-0768-461A-A210-6720BFEE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780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E53752A-A9C9-4EB6-B46F-F2A2BF66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763" y="30861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DFD9F1F-0830-458F-8128-0E41C505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766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3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BF2EAFD-7CC7-438E-AC93-EE5720B3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90925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84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BDED3C1-FFA3-4DA1-8697-ABF52ED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0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9AA1E33-2BC9-4996-BE8E-B35C986C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99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A7CB090-92E6-420F-85E2-97FC6654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97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874BA2A-F69C-43CA-903B-921CBD0F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5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CDDFFF2-48CC-4F51-83EC-F3B54BFE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13E7553-DB8F-4971-9A92-01F76A1E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D863D48-4863-44D0-964B-B3417899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90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C60F75E-78FC-4FF3-AF6B-CF01EBDC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D19BB91-C022-49D1-80DF-4E9133F3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6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4638A2D-7326-4FAD-989C-EEF393C9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0F55FC7-2AB6-4AA6-99AA-7412600E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83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5540198-CCC9-490B-8AE4-1E44AF06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3F7B73A-807A-483D-A672-8F4B943F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3956D4B-E508-49D0-9C58-3A8615D3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780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A51AFC5-05B2-4A7D-A97A-C5A9EADD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763" y="35909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5D839D8-A182-4698-9D4B-11621BA9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A8B1C1"/>
                </a:solidFill>
              </a:defRPr>
            </a:defPPr>
            <a:lvl1pPr>
              <a:defRPr sz="975" b="0" i="0">
                <a:solidFill>
                  <a:srgbClr val="A8B1C1"/>
                </a:solidFill>
              </a:defRPr>
            </a:lvl1pPr>
            <a:lvl2pPr>
              <a:defRPr sz="975" b="0" i="0">
                <a:solidFill>
                  <a:srgbClr val="A8B1C1"/>
                </a:solidFill>
              </a:defRPr>
            </a:lvl2pPr>
            <a:lvl3pPr>
              <a:defRPr sz="975" b="0" i="0">
                <a:solidFill>
                  <a:srgbClr val="A8B1C1"/>
                </a:solidFill>
              </a:defRPr>
            </a:lvl3pPr>
            <a:lvl4pPr>
              <a:defRPr sz="975" b="0" i="0">
                <a:solidFill>
                  <a:srgbClr val="A8B1C1"/>
                </a:solidFill>
              </a:defRPr>
            </a:lvl4pPr>
            <a:lvl5pPr>
              <a:defRPr sz="975" b="0" i="0">
                <a:solidFill>
                  <a:srgbClr val="A8B1C1"/>
                </a:solidFill>
              </a:defRPr>
            </a:lvl5pPr>
            <a:lvl6pPr>
              <a:defRPr sz="975" b="0" i="0">
                <a:solidFill>
                  <a:srgbClr val="A8B1C1"/>
                </a:solidFill>
              </a:defRPr>
            </a:lvl6pPr>
            <a:lvl7pPr>
              <a:defRPr sz="975" b="0" i="0">
                <a:solidFill>
                  <a:srgbClr val="A8B1C1"/>
                </a:solidFill>
              </a:defRPr>
            </a:lvl7pPr>
            <a:lvl8pPr>
              <a:defRPr sz="975" b="0" i="0">
                <a:solidFill>
                  <a:srgbClr val="A8B1C1"/>
                </a:solidFill>
              </a:defRPr>
            </a:lvl8pPr>
            <a:lvl9pPr>
              <a:defRPr sz="97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A8B1C1"/>
                </a:solidFill>
              </a:defRPr>
            </a:pPr>
            <a:r>
              <a:rPr sz="975" b="0" i="0">
                <a:solidFill>
                  <a:srgbClr val="A8B1C1"/>
                </a:solidFill>
              </a:rPr>
              <a:t>Row 4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65B5163-5327-4C60-8F72-EA75F13E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095750"/>
            <a:ext cx="361950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223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699F2D9-5B55-489C-BF70-F40FA1C6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0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906F071-01C1-4290-9E6E-86E8AC5C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99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85F0674-D1B9-49D6-A8AC-E94E65A3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97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C96B013-4FEE-4C56-A03D-A235D032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95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82BE2DB-3D4F-4A8B-B76C-35E464F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93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0F06D4A-1160-48CD-A5DE-40B4D89B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7968F80-E3AF-4B57-BE2F-A7ECF3EA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90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B966C48-47AB-496B-BB78-92D3000E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C600F31-09CF-43AB-88AE-7669B41B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6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02B84A1-E7B2-4537-8742-59C2B391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109F630-4FD3-44CE-AD1D-DBA21DD9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983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2624E63-5842-4661-A867-B17ECB58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48FF8D1-E18A-4F39-B11B-E25A88DD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F56E183-955B-4F43-997E-D1ECA35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2780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2143B6C-DF35-46D4-81BB-326D1498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763" y="40957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28FCAB5-97D0-4F79-BD01-0638FB4D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81275"/>
            <a:ext cx="240983" cy="276225"/>
          </a:xfrm>
          <a:prstGeom xmlns:a="http://schemas.openxmlformats.org/drawingml/2006/main" prst="roundRect">
            <a:avLst>
              <a:gd name="adj" fmla="val 11858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8BD5230-FB00-439C-9469-B08D2D04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3086100"/>
            <a:ext cx="240983" cy="276225"/>
          </a:xfrm>
          <a:prstGeom xmlns:a="http://schemas.openxmlformats.org/drawingml/2006/main" prst="roundRect">
            <a:avLst>
              <a:gd name="adj" fmla="val 11858"/>
            </a:avLst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104ABE1-8A8B-48B2-AD37-D5FAE2A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FB7185"/>
                </a:solidFill>
              </a:defRPr>
            </a:defPPr>
            <a:lvl1pPr>
              <a:defRPr sz="975" b="0" i="0">
                <a:solidFill>
                  <a:srgbClr val="FB7185"/>
                </a:solidFill>
              </a:defRPr>
            </a:lvl1pPr>
            <a:lvl2pPr>
              <a:defRPr sz="975" b="0" i="0">
                <a:solidFill>
                  <a:srgbClr val="FB7185"/>
                </a:solidFill>
              </a:defRPr>
            </a:lvl2pPr>
            <a:lvl3pPr>
              <a:defRPr sz="975" b="0" i="0">
                <a:solidFill>
                  <a:srgbClr val="FB7185"/>
                </a:solidFill>
              </a:defRPr>
            </a:lvl3pPr>
            <a:lvl4pPr>
              <a:defRPr sz="975" b="0" i="0">
                <a:solidFill>
                  <a:srgbClr val="FB7185"/>
                </a:solidFill>
              </a:defRPr>
            </a:lvl4pPr>
            <a:lvl5pPr>
              <a:defRPr sz="975" b="0" i="0">
                <a:solidFill>
                  <a:srgbClr val="FB7185"/>
                </a:solidFill>
              </a:defRPr>
            </a:lvl5pPr>
            <a:lvl6pPr>
              <a:defRPr sz="975" b="0" i="0">
                <a:solidFill>
                  <a:srgbClr val="FB7185"/>
                </a:solidFill>
              </a:defRPr>
            </a:lvl6pPr>
            <a:lvl7pPr>
              <a:defRPr sz="975" b="0" i="0">
                <a:solidFill>
                  <a:srgbClr val="FB7185"/>
                </a:solidFill>
              </a:defRPr>
            </a:lvl7pPr>
            <a:lvl8pPr>
              <a:defRPr sz="975" b="0" i="0">
                <a:solidFill>
                  <a:srgbClr val="FB7185"/>
                </a:solidFill>
              </a:defRPr>
            </a:lvl8pPr>
            <a:lvl9pPr>
              <a:defRPr sz="975" b="0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FB7185"/>
                </a:solidFill>
              </a:defRPr>
            </a:pPr>
            <a:r>
              <a:rPr sz="975" b="0" i="0">
                <a:solidFill>
                  <a:srgbClr val="FB7185"/>
                </a:solidFill>
              </a:rPr>
              <a:t>red = misplaced Lays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A5C9AC9-F386-413B-B6D0-3AAB31B0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72000"/>
            <a:ext cx="2333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75" b="0" i="0">
                <a:solidFill>
                  <a:srgbClr val="F59E0B"/>
                </a:solidFill>
              </a:defRPr>
            </a:defPPr>
            <a:lvl1pPr>
              <a:defRPr sz="975" b="0" i="0">
                <a:solidFill>
                  <a:srgbClr val="F59E0B"/>
                </a:solidFill>
              </a:defRPr>
            </a:lvl1pPr>
            <a:lvl2pPr>
              <a:defRPr sz="975" b="0" i="0">
                <a:solidFill>
                  <a:srgbClr val="F59E0B"/>
                </a:solidFill>
              </a:defRPr>
            </a:lvl2pPr>
            <a:lvl3pPr>
              <a:defRPr sz="975" b="0" i="0">
                <a:solidFill>
                  <a:srgbClr val="F59E0B"/>
                </a:solidFill>
              </a:defRPr>
            </a:lvl3pPr>
            <a:lvl4pPr>
              <a:defRPr sz="975" b="0" i="0">
                <a:solidFill>
                  <a:srgbClr val="F59E0B"/>
                </a:solidFill>
              </a:defRPr>
            </a:lvl4pPr>
            <a:lvl5pPr>
              <a:defRPr sz="975" b="0" i="0">
                <a:solidFill>
                  <a:srgbClr val="F59E0B"/>
                </a:solidFill>
              </a:defRPr>
            </a:lvl5pPr>
            <a:lvl6pPr>
              <a:defRPr sz="975" b="0" i="0">
                <a:solidFill>
                  <a:srgbClr val="F59E0B"/>
                </a:solidFill>
              </a:defRPr>
            </a:lvl6pPr>
            <a:lvl7pPr>
              <a:defRPr sz="975" b="0" i="0">
                <a:solidFill>
                  <a:srgbClr val="F59E0B"/>
                </a:solidFill>
              </a:defRPr>
            </a:lvl7pPr>
            <a:lvl8pPr>
              <a:defRPr sz="975" b="0" i="0">
                <a:solidFill>
                  <a:srgbClr val="F59E0B"/>
                </a:solidFill>
              </a:defRPr>
            </a:lvl8pPr>
            <a:lvl9pPr>
              <a:defRPr sz="975" b="0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975" b="0" i="0">
                <a:solidFill>
                  <a:srgbClr val="F59E0B"/>
                </a:solidFill>
              </a:defRPr>
            </a:pPr>
            <a:r>
              <a:rPr sz="975" b="0" i="0">
                <a:solidFill>
                  <a:srgbClr val="F59E0B"/>
                </a:solidFill>
              </a:rPr>
              <a:t>orange outline = empty facing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EB123DA-0DB6-4D8B-8638-5E2ADEA7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9677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2328"/>
          </a:solidFill>
          <a:ln xmlns:a="http://schemas.openxmlformats.org/drawingml/2006/main" w="9525">
            <a:solidFill>
              <a:srgbClr val="61394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C677755-41BA-4D84-9D29-381C5957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24500"/>
            <a:ext cx="919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F8FAFC"/>
                </a:solidFill>
              </a:defRPr>
            </a:defPPr>
            <a:lvl1pPr>
              <a:defRPr sz="1125" b="1" i="0">
                <a:solidFill>
                  <a:srgbClr val="F8FAFC"/>
                </a:solidFill>
              </a:defRPr>
            </a:lvl1pPr>
            <a:lvl2pPr>
              <a:defRPr sz="1125" b="1" i="0">
                <a:solidFill>
                  <a:srgbClr val="F8FAFC"/>
                </a:solidFill>
              </a:defRPr>
            </a:lvl2pPr>
            <a:lvl3pPr>
              <a:defRPr sz="1125" b="1" i="0">
                <a:solidFill>
                  <a:srgbClr val="F8FAFC"/>
                </a:solidFill>
              </a:defRPr>
            </a:lvl3pPr>
            <a:lvl4pPr>
              <a:defRPr sz="1125" b="1" i="0">
                <a:solidFill>
                  <a:srgbClr val="F8FAFC"/>
                </a:solidFill>
              </a:defRPr>
            </a:lvl4pPr>
            <a:lvl5pPr>
              <a:defRPr sz="1125" b="1" i="0">
                <a:solidFill>
                  <a:srgbClr val="F8FAFC"/>
                </a:solidFill>
              </a:defRPr>
            </a:lvl5pPr>
            <a:lvl6pPr>
              <a:defRPr sz="1125" b="1" i="0">
                <a:solidFill>
                  <a:srgbClr val="F8FAFC"/>
                </a:solidFill>
              </a:defRPr>
            </a:lvl6pPr>
            <a:lvl7pPr>
              <a:defRPr sz="1125" b="1" i="0">
                <a:solidFill>
                  <a:srgbClr val="F8FAFC"/>
                </a:solidFill>
              </a:defRPr>
            </a:lvl7pPr>
            <a:lvl8pPr>
              <a:defRPr sz="1125" b="1" i="0">
                <a:solidFill>
                  <a:srgbClr val="F8FAFC"/>
                </a:solidFill>
              </a:defRPr>
            </a:lvl8pPr>
            <a:lvl9pPr>
              <a:defRPr sz="11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F8FAFC"/>
                </a:solidFill>
              </a:defRPr>
            </a:pPr>
            <a:r>
              <a:rPr sz="1125" b="1" i="0">
                <a:solidFill>
                  <a:srgbClr val="F8FAFC"/>
                </a:solidFill>
              </a:rPr>
              <a:t>Conservative rule: when calibration is unavailable, the audit reports “needs review” instead of inferring a definitive missing-stock result.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740D632-8CF8-4181-972F-7B58DD2B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E597041-1E45-4E84-A31E-EA31856A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10  /  16</a:t>
            </a:r>
          </a:p>
        </p:txBody>
      </p:sp>
    </p:spTree>
    <p:extLst>
      <p:ext uri="{BB962C8B-B14F-4D97-AF65-F5344CB8AC3E}">
        <p14:creationId xmlns:p14="http://schemas.microsoft.com/office/powerpoint/2010/main" val="855335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36505-35BF-4F4E-ABCB-DC2C64C0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9EBE3-9F25-438C-B61C-86562AA6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Working product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2F445-5ED9-4A96-9136-EA00A537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frontend persists planograms and image-processing outputs through the FastAPI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BA007-23AA-484C-9EAD-31BE6A11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298C5-B0EF-49F3-AFD2-4B2F10D113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55cd412c34c12"/>
          <a:stretch xmlns:a="http://schemas.openxmlformats.org/drawingml/2006/main"/>
        </p:blipFill>
        <p:spPr>
          <a:xfrm xmlns:a="http://schemas.openxmlformats.org/drawingml/2006/main">
            <a:off x="552450" y="1790700"/>
            <a:ext cx="5257800" cy="3695700"/>
          </a:xfrm>
          <a:prstGeom xmlns:a="http://schemas.openxmlformats.org/drawingml/2006/main" prst="roundRect">
            <a:avLst>
              <a:gd name="adj" fmla="val 3608"/>
            </a:avLst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AD5FC-3764-4133-AAA8-F0ADACE5A4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350e3f03047ed"/>
          <a:stretch xmlns:a="http://schemas.openxmlformats.org/drawingml/2006/main"/>
        </p:blipFill>
        <p:spPr>
          <a:xfrm xmlns:a="http://schemas.openxmlformats.org/drawingml/2006/main">
            <a:off x="6381750" y="1790700"/>
            <a:ext cx="5257800" cy="3695700"/>
          </a:xfrm>
          <a:prstGeom xmlns:a="http://schemas.openxmlformats.org/drawingml/2006/main" prst="roundRect">
            <a:avLst>
              <a:gd name="adj" fmla="val 360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85F48-05D4-4698-9E0D-F28CE743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38BDF8"/>
                </a:solidFill>
              </a:defRPr>
            </a:defPPr>
            <a:lvl1pPr>
              <a:defRPr sz="1200" b="1" i="0">
                <a:solidFill>
                  <a:srgbClr val="38BDF8"/>
                </a:solidFill>
              </a:defRPr>
            </a:lvl1pPr>
            <a:lvl2pPr>
              <a:defRPr sz="1200" b="1" i="0">
                <a:solidFill>
                  <a:srgbClr val="38BDF8"/>
                </a:solidFill>
              </a:defRPr>
            </a:lvl2pPr>
            <a:lvl3pPr>
              <a:defRPr sz="1200" b="1" i="0">
                <a:solidFill>
                  <a:srgbClr val="38BDF8"/>
                </a:solidFill>
              </a:defRPr>
            </a:lvl3pPr>
            <a:lvl4pPr>
              <a:defRPr sz="1200" b="1" i="0">
                <a:solidFill>
                  <a:srgbClr val="38BDF8"/>
                </a:solidFill>
              </a:defRPr>
            </a:lvl4pPr>
            <a:lvl5pPr>
              <a:defRPr sz="1200" b="1" i="0">
                <a:solidFill>
                  <a:srgbClr val="38BDF8"/>
                </a:solidFill>
              </a:defRPr>
            </a:lvl5pPr>
            <a:lvl6pPr>
              <a:defRPr sz="1200" b="1" i="0">
                <a:solidFill>
                  <a:srgbClr val="38BDF8"/>
                </a:solidFill>
              </a:defRPr>
            </a:lvl6pPr>
            <a:lvl7pPr>
              <a:defRPr sz="1200" b="1" i="0">
                <a:solidFill>
                  <a:srgbClr val="38BDF8"/>
                </a:solidFill>
              </a:defRPr>
            </a:lvl7pPr>
            <a:lvl8pPr>
              <a:defRPr sz="1200" b="1" i="0">
                <a:solidFill>
                  <a:srgbClr val="38BDF8"/>
                </a:solidFill>
              </a:defRPr>
            </a:lvl8pPr>
            <a:lvl9pPr>
              <a:defRPr sz="120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38BDF8"/>
                </a:solidFill>
              </a:defRPr>
            </a:pPr>
            <a:r>
              <a:rPr sz="1200" b="1" i="0">
                <a:solidFill>
                  <a:srgbClr val="38BDF8"/>
                </a:solidFill>
              </a:rP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453F6-9FC2-475A-A7B8-883FF17C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76900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2DD4BF"/>
                </a:solidFill>
              </a:defRPr>
            </a:defPPr>
            <a:lvl1pPr>
              <a:defRPr sz="1200" b="1" i="0">
                <a:solidFill>
                  <a:srgbClr val="2DD4BF"/>
                </a:solidFill>
              </a:defRPr>
            </a:lvl1pPr>
            <a:lvl2pPr>
              <a:defRPr sz="1200" b="1" i="0">
                <a:solidFill>
                  <a:srgbClr val="2DD4BF"/>
                </a:solidFill>
              </a:defRPr>
            </a:lvl2pPr>
            <a:lvl3pPr>
              <a:defRPr sz="1200" b="1" i="0">
                <a:solidFill>
                  <a:srgbClr val="2DD4BF"/>
                </a:solidFill>
              </a:defRPr>
            </a:lvl3pPr>
            <a:lvl4pPr>
              <a:defRPr sz="1200" b="1" i="0">
                <a:solidFill>
                  <a:srgbClr val="2DD4BF"/>
                </a:solidFill>
              </a:defRPr>
            </a:lvl4pPr>
            <a:lvl5pPr>
              <a:defRPr sz="1200" b="1" i="0">
                <a:solidFill>
                  <a:srgbClr val="2DD4BF"/>
                </a:solidFill>
              </a:defRPr>
            </a:lvl5pPr>
            <a:lvl6pPr>
              <a:defRPr sz="1200" b="1" i="0">
                <a:solidFill>
                  <a:srgbClr val="2DD4BF"/>
                </a:solidFill>
              </a:defRPr>
            </a:lvl6pPr>
            <a:lvl7pPr>
              <a:defRPr sz="1200" b="1" i="0">
                <a:solidFill>
                  <a:srgbClr val="2DD4BF"/>
                </a:solidFill>
              </a:defRPr>
            </a:lvl7pPr>
            <a:lvl8pPr>
              <a:defRPr sz="1200" b="1" i="0">
                <a:solidFill>
                  <a:srgbClr val="2DD4BF"/>
                </a:solidFill>
              </a:defRPr>
            </a:lvl8pPr>
            <a:lvl9pPr>
              <a:defRPr sz="12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DD4BF"/>
                </a:solidFill>
              </a:defRPr>
            </a:pPr>
            <a:r>
              <a:rPr sz="1200" b="1" i="0">
                <a:solidFill>
                  <a:srgbClr val="2DD4BF"/>
                </a:solidFill>
              </a:rPr>
              <a:t>Planogram Designer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05275-CBA0-4D97-8D2C-015E1255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The designer uses a dark SaaS shell, hierarchy outliner, physical shelf canvas, and direct API synchronization. The analysis flow renders cutout and compliance evidence in the same application.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19D31-6027-4C47-B11D-4FC04C1D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1FC5D-ABBD-4A19-A39E-9F6F0ED5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11  /  16</a:t>
            </a:r>
          </a:p>
        </p:txBody>
      </p:sp>
    </p:spTree>
    <p:extLst>
      <p:ext uri="{BB962C8B-B14F-4D97-AF65-F5344CB8AC3E}">
        <p14:creationId xmlns:p14="http://schemas.microsoft.com/office/powerpoint/2010/main" val="557735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916FBE-969D-49DC-8AC2-5A44C131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A7E67-E8B1-4221-AA37-BEC1F589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Controlled four-row fixture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1FF27-32CB-4DC8-A848-8CA53911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fixture provides scenario-level acceptance rules. It does not establish detector precision, recall, or calibrated measurement accuracy.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070C6-29F3-484B-9B91-BD53C0BB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4CBB8-AECB-4D86-B89B-ABB2206FA8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1bd51e1284b35"/>
          <a:stretch xmlns:a="http://schemas.openxmlformats.org/drawingml/2006/main"/>
        </p:blipFill>
        <p:spPr>
          <a:xfrm xmlns:a="http://schemas.openxmlformats.org/drawingml/2006/main">
            <a:off x="552450" y="1790700"/>
            <a:ext cx="3048000" cy="4000500"/>
          </a:xfrm>
          <a:prstGeom xmlns:a="http://schemas.openxmlformats.org/drawingml/2006/main" prst="roundRect">
            <a:avLst>
              <a:gd name="adj" fmla="val 437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37A6E-5EAA-45D9-8B09-652741D2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192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Fixture planogram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C2D57-CC88-4341-A19D-148CD6F4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28850"/>
            <a:ext cx="700087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1191B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E6DEB-A819-469A-AFAB-95F4F30A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43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A8B1C1"/>
                </a:solidFill>
              </a:defRPr>
            </a:defPPr>
            <a:lvl1pPr>
              <a:defRPr sz="1050" b="1" i="0">
                <a:solidFill>
                  <a:srgbClr val="A8B1C1"/>
                </a:solidFill>
              </a:defRPr>
            </a:lvl1pPr>
            <a:lvl2pPr>
              <a:defRPr sz="1050" b="1" i="0">
                <a:solidFill>
                  <a:srgbClr val="A8B1C1"/>
                </a:solidFill>
              </a:defRPr>
            </a:lvl2pPr>
            <a:lvl3pPr>
              <a:defRPr sz="1050" b="1" i="0">
                <a:solidFill>
                  <a:srgbClr val="A8B1C1"/>
                </a:solidFill>
              </a:defRPr>
            </a:lvl3pPr>
            <a:lvl4pPr>
              <a:defRPr sz="1050" b="1" i="0">
                <a:solidFill>
                  <a:srgbClr val="A8B1C1"/>
                </a:solidFill>
              </a:defRPr>
            </a:lvl4pPr>
            <a:lvl5pPr>
              <a:defRPr sz="1050" b="1" i="0">
                <a:solidFill>
                  <a:srgbClr val="A8B1C1"/>
                </a:solidFill>
              </a:defRPr>
            </a:lvl5pPr>
            <a:lvl6pPr>
              <a:defRPr sz="1050" b="1" i="0">
                <a:solidFill>
                  <a:srgbClr val="A8B1C1"/>
                </a:solidFill>
              </a:defRPr>
            </a:lvl6pPr>
            <a:lvl7pPr>
              <a:defRPr sz="1050" b="1" i="0">
                <a:solidFill>
                  <a:srgbClr val="A8B1C1"/>
                </a:solidFill>
              </a:defRPr>
            </a:lvl7pPr>
            <a:lvl8pPr>
              <a:defRPr sz="1050" b="1" i="0">
                <a:solidFill>
                  <a:srgbClr val="A8B1C1"/>
                </a:solidFill>
              </a:defRPr>
            </a:lvl8pPr>
            <a:lvl9pPr>
              <a:defRPr sz="1050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A8B1C1"/>
                </a:solidFill>
              </a:defRPr>
            </a:pPr>
            <a:r>
              <a:rPr sz="1050" b="1" i="0">
                <a:solidFill>
                  <a:srgbClr val="A8B1C1"/>
                </a:solidFill>
              </a:rPr>
              <a:t>Row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EEA93-FAE8-4B92-99D0-F5EFE05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Amul Milk Chocolate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6B79C-7C88-437E-B878-DCBE0D8B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527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15 expected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337A9-2233-4350-8CED-8FE2689C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FB7185"/>
                </a:solidFill>
              </a:defRPr>
            </a:defPPr>
            <a:lvl1pPr>
              <a:defRPr sz="1050" b="1" i="0">
                <a:solidFill>
                  <a:srgbClr val="FB7185"/>
                </a:solidFill>
              </a:defRPr>
            </a:lvl1pPr>
            <a:lvl2pPr>
              <a:defRPr sz="1050" b="1" i="0">
                <a:solidFill>
                  <a:srgbClr val="FB7185"/>
                </a:solidFill>
              </a:defRPr>
            </a:lvl2pPr>
            <a:lvl3pPr>
              <a:defRPr sz="1050" b="1" i="0">
                <a:solidFill>
                  <a:srgbClr val="FB7185"/>
                </a:solidFill>
              </a:defRPr>
            </a:lvl3pPr>
            <a:lvl4pPr>
              <a:defRPr sz="1050" b="1" i="0">
                <a:solidFill>
                  <a:srgbClr val="FB7185"/>
                </a:solidFill>
              </a:defRPr>
            </a:lvl4pPr>
            <a:lvl5pPr>
              <a:defRPr sz="1050" b="1" i="0">
                <a:solidFill>
                  <a:srgbClr val="FB7185"/>
                </a:solidFill>
              </a:defRPr>
            </a:lvl5pPr>
            <a:lvl6pPr>
              <a:defRPr sz="1050" b="1" i="0">
                <a:solidFill>
                  <a:srgbClr val="FB7185"/>
                </a:solidFill>
              </a:defRPr>
            </a:lvl6pPr>
            <a:lvl7pPr>
              <a:defRPr sz="1050" b="1" i="0">
                <a:solidFill>
                  <a:srgbClr val="FB7185"/>
                </a:solidFill>
              </a:defRPr>
            </a:lvl7pPr>
            <a:lvl8pPr>
              <a:defRPr sz="1050" b="1" i="0">
                <a:solidFill>
                  <a:srgbClr val="FB7185"/>
                </a:solidFill>
              </a:defRPr>
            </a:lvl8pPr>
            <a:lvl9pPr>
              <a:defRPr sz="105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FB7185"/>
                </a:solidFill>
              </a:defRPr>
            </a:pPr>
            <a:r>
              <a:rPr sz="1050" b="1" i="0">
                <a:solidFill>
                  <a:srgbClr val="FB7185"/>
                </a:solidFill>
              </a:rPr>
              <a:t>1 Yellow Lays interleaved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2590B-0F48-4331-8123-7C01E450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71800"/>
            <a:ext cx="700087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86D47-25D2-4096-A263-BFBE5CD9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86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A8B1C1"/>
                </a:solidFill>
              </a:defRPr>
            </a:defPPr>
            <a:lvl1pPr>
              <a:defRPr sz="1050" b="1" i="0">
                <a:solidFill>
                  <a:srgbClr val="A8B1C1"/>
                </a:solidFill>
              </a:defRPr>
            </a:lvl1pPr>
            <a:lvl2pPr>
              <a:defRPr sz="1050" b="1" i="0">
                <a:solidFill>
                  <a:srgbClr val="A8B1C1"/>
                </a:solidFill>
              </a:defRPr>
            </a:lvl2pPr>
            <a:lvl3pPr>
              <a:defRPr sz="1050" b="1" i="0">
                <a:solidFill>
                  <a:srgbClr val="A8B1C1"/>
                </a:solidFill>
              </a:defRPr>
            </a:lvl3pPr>
            <a:lvl4pPr>
              <a:defRPr sz="1050" b="1" i="0">
                <a:solidFill>
                  <a:srgbClr val="A8B1C1"/>
                </a:solidFill>
              </a:defRPr>
            </a:lvl4pPr>
            <a:lvl5pPr>
              <a:defRPr sz="1050" b="1" i="0">
                <a:solidFill>
                  <a:srgbClr val="A8B1C1"/>
                </a:solidFill>
              </a:defRPr>
            </a:lvl5pPr>
            <a:lvl6pPr>
              <a:defRPr sz="1050" b="1" i="0">
                <a:solidFill>
                  <a:srgbClr val="A8B1C1"/>
                </a:solidFill>
              </a:defRPr>
            </a:lvl6pPr>
            <a:lvl7pPr>
              <a:defRPr sz="1050" b="1" i="0">
                <a:solidFill>
                  <a:srgbClr val="A8B1C1"/>
                </a:solidFill>
              </a:defRPr>
            </a:lvl7pPr>
            <a:lvl8pPr>
              <a:defRPr sz="1050" b="1" i="0">
                <a:solidFill>
                  <a:srgbClr val="A8B1C1"/>
                </a:solidFill>
              </a:defRPr>
            </a:lvl8pPr>
            <a:lvl9pPr>
              <a:defRPr sz="1050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A8B1C1"/>
                </a:solidFill>
              </a:defRPr>
            </a:pPr>
            <a:r>
              <a:rPr sz="1050" b="1" i="0">
                <a:solidFill>
                  <a:srgbClr val="A8B1C1"/>
                </a:solidFill>
              </a:rPr>
              <a:t>Row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31C0E-639C-4ACF-BE1B-9D47E0B1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670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Yellow Lays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31894-5A38-4A2D-A9EE-096E367B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15 expected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8B488-7A7E-43B5-BFEC-BC4B266F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337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F59E0B"/>
                </a:solidFill>
              </a:defRPr>
            </a:defPPr>
            <a:lvl1pPr>
              <a:defRPr sz="1050" b="1" i="0">
                <a:solidFill>
                  <a:srgbClr val="F59E0B"/>
                </a:solidFill>
              </a:defRPr>
            </a:lvl1pPr>
            <a:lvl2pPr>
              <a:defRPr sz="1050" b="1" i="0">
                <a:solidFill>
                  <a:srgbClr val="F59E0B"/>
                </a:solidFill>
              </a:defRPr>
            </a:lvl2pPr>
            <a:lvl3pPr>
              <a:defRPr sz="1050" b="1" i="0">
                <a:solidFill>
                  <a:srgbClr val="F59E0B"/>
                </a:solidFill>
              </a:defRPr>
            </a:lvl3pPr>
            <a:lvl4pPr>
              <a:defRPr sz="1050" b="1" i="0">
                <a:solidFill>
                  <a:srgbClr val="F59E0B"/>
                </a:solidFill>
              </a:defRPr>
            </a:lvl4pPr>
            <a:lvl5pPr>
              <a:defRPr sz="1050" b="1" i="0">
                <a:solidFill>
                  <a:srgbClr val="F59E0B"/>
                </a:solidFill>
              </a:defRPr>
            </a:lvl5pPr>
            <a:lvl6pPr>
              <a:defRPr sz="1050" b="1" i="0">
                <a:solidFill>
                  <a:srgbClr val="F59E0B"/>
                </a:solidFill>
              </a:defRPr>
            </a:lvl6pPr>
            <a:lvl7pPr>
              <a:defRPr sz="1050" b="1" i="0">
                <a:solidFill>
                  <a:srgbClr val="F59E0B"/>
                </a:solidFill>
              </a:defRPr>
            </a:lvl7pPr>
            <a:lvl8pPr>
              <a:defRPr sz="1050" b="1" i="0">
                <a:solidFill>
                  <a:srgbClr val="F59E0B"/>
                </a:solidFill>
              </a:defRPr>
            </a:lvl8pPr>
            <a:lvl9pPr>
              <a:defRPr sz="10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F59E0B"/>
                </a:solidFill>
              </a:defRPr>
            </a:pPr>
            <a:r>
              <a:rPr sz="1050" b="1" i="0">
                <a:solidFill>
                  <a:srgbClr val="F59E0B"/>
                </a:solidFill>
              </a:rPr>
              <a:t>14 reported, one empty facing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A1775-5BCB-4827-A138-0E76A991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14750"/>
            <a:ext cx="700087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F2BF6-AFC3-429D-B553-DDA9D358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8290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A8B1C1"/>
                </a:solidFill>
              </a:defRPr>
            </a:defPPr>
            <a:lvl1pPr>
              <a:defRPr sz="1050" b="1" i="0">
                <a:solidFill>
                  <a:srgbClr val="A8B1C1"/>
                </a:solidFill>
              </a:defRPr>
            </a:lvl1pPr>
            <a:lvl2pPr>
              <a:defRPr sz="1050" b="1" i="0">
                <a:solidFill>
                  <a:srgbClr val="A8B1C1"/>
                </a:solidFill>
              </a:defRPr>
            </a:lvl2pPr>
            <a:lvl3pPr>
              <a:defRPr sz="1050" b="1" i="0">
                <a:solidFill>
                  <a:srgbClr val="A8B1C1"/>
                </a:solidFill>
              </a:defRPr>
            </a:lvl3pPr>
            <a:lvl4pPr>
              <a:defRPr sz="1050" b="1" i="0">
                <a:solidFill>
                  <a:srgbClr val="A8B1C1"/>
                </a:solidFill>
              </a:defRPr>
            </a:lvl4pPr>
            <a:lvl5pPr>
              <a:defRPr sz="1050" b="1" i="0">
                <a:solidFill>
                  <a:srgbClr val="A8B1C1"/>
                </a:solidFill>
              </a:defRPr>
            </a:lvl5pPr>
            <a:lvl6pPr>
              <a:defRPr sz="1050" b="1" i="0">
                <a:solidFill>
                  <a:srgbClr val="A8B1C1"/>
                </a:solidFill>
              </a:defRPr>
            </a:lvl6pPr>
            <a:lvl7pPr>
              <a:defRPr sz="1050" b="1" i="0">
                <a:solidFill>
                  <a:srgbClr val="A8B1C1"/>
                </a:solidFill>
              </a:defRPr>
            </a:lvl7pPr>
            <a:lvl8pPr>
              <a:defRPr sz="1050" b="1" i="0">
                <a:solidFill>
                  <a:srgbClr val="A8B1C1"/>
                </a:solidFill>
              </a:defRPr>
            </a:lvl8pPr>
            <a:lvl9pPr>
              <a:defRPr sz="1050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A8B1C1"/>
                </a:solidFill>
              </a:defRPr>
            </a:pPr>
            <a:r>
              <a:rPr sz="1050" b="1" i="0">
                <a:solidFill>
                  <a:srgbClr val="A8B1C1"/>
                </a:solidFill>
              </a:rPr>
              <a:t>Row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F96F4-242F-49CC-812E-D3351EF8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100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Orange Juice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5627B-0715-4622-ABB7-4E0E83CD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15 expected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C62FA-4024-4895-BEBB-B669A6B0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7667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Full, ±2 facings tolerated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C022B-34AC-4412-BC90-5EFF79A8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57700"/>
            <a:ext cx="7000875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FB632-EFAF-4463-BBEF-676CE5C1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72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1" i="0">
                <a:solidFill>
                  <a:srgbClr val="A8B1C1"/>
                </a:solidFill>
              </a:defRPr>
            </a:defPPr>
            <a:lvl1pPr>
              <a:defRPr sz="1050" b="1" i="0">
                <a:solidFill>
                  <a:srgbClr val="A8B1C1"/>
                </a:solidFill>
              </a:defRPr>
            </a:lvl1pPr>
            <a:lvl2pPr>
              <a:defRPr sz="1050" b="1" i="0">
                <a:solidFill>
                  <a:srgbClr val="A8B1C1"/>
                </a:solidFill>
              </a:defRPr>
            </a:lvl2pPr>
            <a:lvl3pPr>
              <a:defRPr sz="1050" b="1" i="0">
                <a:solidFill>
                  <a:srgbClr val="A8B1C1"/>
                </a:solidFill>
              </a:defRPr>
            </a:lvl3pPr>
            <a:lvl4pPr>
              <a:defRPr sz="1050" b="1" i="0">
                <a:solidFill>
                  <a:srgbClr val="A8B1C1"/>
                </a:solidFill>
              </a:defRPr>
            </a:lvl4pPr>
            <a:lvl5pPr>
              <a:defRPr sz="1050" b="1" i="0">
                <a:solidFill>
                  <a:srgbClr val="A8B1C1"/>
                </a:solidFill>
              </a:defRPr>
            </a:lvl5pPr>
            <a:lvl6pPr>
              <a:defRPr sz="1050" b="1" i="0">
                <a:solidFill>
                  <a:srgbClr val="A8B1C1"/>
                </a:solidFill>
              </a:defRPr>
            </a:lvl6pPr>
            <a:lvl7pPr>
              <a:defRPr sz="1050" b="1" i="0">
                <a:solidFill>
                  <a:srgbClr val="A8B1C1"/>
                </a:solidFill>
              </a:defRPr>
            </a:lvl7pPr>
            <a:lvl8pPr>
              <a:defRPr sz="1050" b="1" i="0">
                <a:solidFill>
                  <a:srgbClr val="A8B1C1"/>
                </a:solidFill>
              </a:defRPr>
            </a:lvl8pPr>
            <a:lvl9pPr>
              <a:defRPr sz="1050" b="1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A8B1C1"/>
                </a:solidFill>
              </a:defRPr>
            </a:pPr>
            <a:r>
              <a:rPr sz="1050" b="1" i="0">
                <a:solidFill>
                  <a:srgbClr val="A8B1C1"/>
                </a:solidFill>
              </a:rPr>
              <a:t>Row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7C6257-55B4-4411-8FEC-72A501A7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529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8FAFC"/>
                </a:solidFill>
              </a:defRPr>
            </a:defPPr>
            <a:lvl1pPr>
              <a:defRPr sz="1200" b="1" i="0">
                <a:solidFill>
                  <a:srgbClr val="F8FAFC"/>
                </a:solidFill>
              </a:defRPr>
            </a:lvl1pPr>
            <a:lvl2pPr>
              <a:defRPr sz="1200" b="1" i="0">
                <a:solidFill>
                  <a:srgbClr val="F8FAFC"/>
                </a:solidFill>
              </a:defRPr>
            </a:lvl2pPr>
            <a:lvl3pPr>
              <a:defRPr sz="1200" b="1" i="0">
                <a:solidFill>
                  <a:srgbClr val="F8FAFC"/>
                </a:solidFill>
              </a:defRPr>
            </a:lvl3pPr>
            <a:lvl4pPr>
              <a:defRPr sz="1200" b="1" i="0">
                <a:solidFill>
                  <a:srgbClr val="F8FAFC"/>
                </a:solidFill>
              </a:defRPr>
            </a:lvl4pPr>
            <a:lvl5pPr>
              <a:defRPr sz="1200" b="1" i="0">
                <a:solidFill>
                  <a:srgbClr val="F8FAFC"/>
                </a:solidFill>
              </a:defRPr>
            </a:lvl5pPr>
            <a:lvl6pPr>
              <a:defRPr sz="1200" b="1" i="0">
                <a:solidFill>
                  <a:srgbClr val="F8FAFC"/>
                </a:solidFill>
              </a:defRPr>
            </a:lvl6pPr>
            <a:lvl7pPr>
              <a:defRPr sz="1200" b="1" i="0">
                <a:solidFill>
                  <a:srgbClr val="F8FAFC"/>
                </a:solidFill>
              </a:defRPr>
            </a:lvl7pPr>
            <a:lvl8pPr>
              <a:defRPr sz="1200" b="1" i="0">
                <a:solidFill>
                  <a:srgbClr val="F8FAFC"/>
                </a:solidFill>
              </a:defRPr>
            </a:lvl8pPr>
            <a:lvl9pPr>
              <a:defRPr sz="12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8FAFC"/>
                </a:solidFill>
              </a:defRPr>
            </a:pPr>
            <a:r>
              <a:rPr sz="1200" b="1" i="0">
                <a:solidFill>
                  <a:srgbClr val="F8FAFC"/>
                </a:solidFill>
              </a:rPr>
              <a:t>Fresh Laundry Liquid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4D491-9810-46A5-A746-552827BE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81550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 i="0">
                <a:solidFill>
                  <a:srgbClr val="A8B1C1"/>
                </a:solidFill>
              </a:defRPr>
            </a:defPPr>
            <a:lvl1pPr>
              <a:defRPr sz="900" b="0" i="0">
                <a:solidFill>
                  <a:srgbClr val="A8B1C1"/>
                </a:solidFill>
              </a:defRPr>
            </a:lvl1pPr>
            <a:lvl2pPr>
              <a:defRPr sz="900" b="0" i="0">
                <a:solidFill>
                  <a:srgbClr val="A8B1C1"/>
                </a:solidFill>
              </a:defRPr>
            </a:lvl2pPr>
            <a:lvl3pPr>
              <a:defRPr sz="900" b="0" i="0">
                <a:solidFill>
                  <a:srgbClr val="A8B1C1"/>
                </a:solidFill>
              </a:defRPr>
            </a:lvl3pPr>
            <a:lvl4pPr>
              <a:defRPr sz="900" b="0" i="0">
                <a:solidFill>
                  <a:srgbClr val="A8B1C1"/>
                </a:solidFill>
              </a:defRPr>
            </a:lvl4pPr>
            <a:lvl5pPr>
              <a:defRPr sz="900" b="0" i="0">
                <a:solidFill>
                  <a:srgbClr val="A8B1C1"/>
                </a:solidFill>
              </a:defRPr>
            </a:lvl5pPr>
            <a:lvl6pPr>
              <a:defRPr sz="900" b="0" i="0">
                <a:solidFill>
                  <a:srgbClr val="A8B1C1"/>
                </a:solidFill>
              </a:defRPr>
            </a:lvl6pPr>
            <a:lvl7pPr>
              <a:defRPr sz="900" b="0" i="0">
                <a:solidFill>
                  <a:srgbClr val="A8B1C1"/>
                </a:solidFill>
              </a:defRPr>
            </a:lvl7pPr>
            <a:lvl8pPr>
              <a:defRPr sz="900" b="0" i="0">
                <a:solidFill>
                  <a:srgbClr val="A8B1C1"/>
                </a:solidFill>
              </a:defRPr>
            </a:lvl8pPr>
            <a:lvl9pPr>
              <a:defRPr sz="900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900" b="0" i="0">
                <a:solidFill>
                  <a:srgbClr val="A8B1C1"/>
                </a:solidFill>
              </a:defRPr>
            </a:pPr>
            <a:r>
              <a:rPr sz="900" b="0" i="0">
                <a:solidFill>
                  <a:srgbClr val="A8B1C1"/>
                </a:solidFill>
              </a:rPr>
              <a:t>15 expected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98727-0794-446A-B634-05D42C64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96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Full and correctly arranged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8F1DB-C4C4-4160-9B82-0109AD60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29250"/>
            <a:ext cx="700087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9525">
            <a:solidFill>
              <a:srgbClr val="2C65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CDB003-F898-49AC-9E2B-91326193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58165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1" i="0">
                <a:solidFill>
                  <a:srgbClr val="6EE7B7"/>
                </a:solidFill>
              </a:defRPr>
            </a:defPPr>
            <a:lvl1pPr>
              <a:defRPr sz="1125" b="1" i="0">
                <a:solidFill>
                  <a:srgbClr val="6EE7B7"/>
                </a:solidFill>
              </a:defRPr>
            </a:lvl1pPr>
            <a:lvl2pPr>
              <a:defRPr sz="1125" b="1" i="0">
                <a:solidFill>
                  <a:srgbClr val="6EE7B7"/>
                </a:solidFill>
              </a:defRPr>
            </a:lvl2pPr>
            <a:lvl3pPr>
              <a:defRPr sz="1125" b="1" i="0">
                <a:solidFill>
                  <a:srgbClr val="6EE7B7"/>
                </a:solidFill>
              </a:defRPr>
            </a:lvl3pPr>
            <a:lvl4pPr>
              <a:defRPr sz="1125" b="1" i="0">
                <a:solidFill>
                  <a:srgbClr val="6EE7B7"/>
                </a:solidFill>
              </a:defRPr>
            </a:lvl4pPr>
            <a:lvl5pPr>
              <a:defRPr sz="1125" b="1" i="0">
                <a:solidFill>
                  <a:srgbClr val="6EE7B7"/>
                </a:solidFill>
              </a:defRPr>
            </a:lvl5pPr>
            <a:lvl6pPr>
              <a:defRPr sz="1125" b="1" i="0">
                <a:solidFill>
                  <a:srgbClr val="6EE7B7"/>
                </a:solidFill>
              </a:defRPr>
            </a:lvl6pPr>
            <a:lvl7pPr>
              <a:defRPr sz="1125" b="1" i="0">
                <a:solidFill>
                  <a:srgbClr val="6EE7B7"/>
                </a:solidFill>
              </a:defRPr>
            </a:lvl7pPr>
            <a:lvl8pPr>
              <a:defRPr sz="1125" b="1" i="0">
                <a:solidFill>
                  <a:srgbClr val="6EE7B7"/>
                </a:solidFill>
              </a:defRPr>
            </a:lvl8pPr>
            <a:lvl9pPr>
              <a:defRPr sz="112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Regression target: report one misplaced Lays on Row 1 and one empty Lays facing on Row 2 without false low-stock alerts.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BDB228-DBDE-45FF-B599-EEFF108C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BA6C13-D496-4A1E-8D3E-D681051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12  /  16</a:t>
            </a:r>
          </a:p>
        </p:txBody>
      </p:sp>
    </p:spTree>
    <p:extLst>
      <p:ext uri="{BB962C8B-B14F-4D97-AF65-F5344CB8AC3E}">
        <p14:creationId xmlns:p14="http://schemas.microsoft.com/office/powerpoint/2010/main" val="13595042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CD610A-2D51-4DDF-8180-D4F225BD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EC550-4383-45EB-996A-8EF8C70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Verification evidence and engineering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865D6-F7C8-45A3-9016-D58B7C73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Tests exercise the isolated backend, image parser, frontend behavior, and critical browser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6EE81-E003-4842-8BB1-DDD3DEE1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79460-044C-4D69-8FAD-347D4917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28700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E62FD-2226-4E0A-93BD-E92A2471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240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2DD4BF"/>
                </a:solidFill>
              </a:defRPr>
            </a:defPPr>
            <a:lvl1pPr>
              <a:defRPr sz="1350" b="1" i="0">
                <a:solidFill>
                  <a:srgbClr val="2DD4BF"/>
                </a:solidFill>
              </a:defRPr>
            </a:lvl1pPr>
            <a:lvl2pPr>
              <a:defRPr sz="1350" b="1" i="0">
                <a:solidFill>
                  <a:srgbClr val="2DD4BF"/>
                </a:solidFill>
              </a:defRPr>
            </a:lvl2pPr>
            <a:lvl3pPr>
              <a:defRPr sz="1350" b="1" i="0">
                <a:solidFill>
                  <a:srgbClr val="2DD4BF"/>
                </a:solidFill>
              </a:defRPr>
            </a:lvl3pPr>
            <a:lvl4pPr>
              <a:defRPr sz="1350" b="1" i="0">
                <a:solidFill>
                  <a:srgbClr val="2DD4BF"/>
                </a:solidFill>
              </a:defRPr>
            </a:lvl4pPr>
            <a:lvl5pPr>
              <a:defRPr sz="1350" b="1" i="0">
                <a:solidFill>
                  <a:srgbClr val="2DD4BF"/>
                </a:solidFill>
              </a:defRPr>
            </a:lvl5pPr>
            <a:lvl6pPr>
              <a:defRPr sz="1350" b="1" i="0">
                <a:solidFill>
                  <a:srgbClr val="2DD4BF"/>
                </a:solidFill>
              </a:defRPr>
            </a:lvl6pPr>
            <a:lvl7pPr>
              <a:defRPr sz="1350" b="1" i="0">
                <a:solidFill>
                  <a:srgbClr val="2DD4BF"/>
                </a:solidFill>
              </a:defRPr>
            </a:lvl7pPr>
            <a:lvl8pPr>
              <a:defRPr sz="1350" b="1" i="0">
                <a:solidFill>
                  <a:srgbClr val="2DD4BF"/>
                </a:solidFill>
              </a:defRPr>
            </a:lvl8pPr>
            <a:lvl9pPr>
              <a:defRPr sz="135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2DD4BF"/>
                </a:solidFill>
              </a:defRPr>
            </a:pPr>
            <a:r>
              <a:rPr sz="1350" b="1" i="0">
                <a:solidFill>
                  <a:srgbClr val="2DD4BF"/>
                </a:solidFill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43FEE-DC18-4111-9F87-4138BBF9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240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pytest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5ECEE-C568-407F-B01A-6DA84739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859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93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C8B5D-54A8-4DC1-B3EA-3D5416EB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240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Temporary SQLite database and uploads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4FD8C-BDB7-4985-B700-BC7815C9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028700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D0C89-FF93-432E-A966-A4EB7D94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38BDF8"/>
                </a:solidFill>
              </a:defRPr>
            </a:defPPr>
            <a:lvl1pPr>
              <a:defRPr sz="1350" b="1" i="0">
                <a:solidFill>
                  <a:srgbClr val="38BDF8"/>
                </a:solidFill>
              </a:defRPr>
            </a:lvl1pPr>
            <a:lvl2pPr>
              <a:defRPr sz="1350" b="1" i="0">
                <a:solidFill>
                  <a:srgbClr val="38BDF8"/>
                </a:solidFill>
              </a:defRPr>
            </a:lvl2pPr>
            <a:lvl3pPr>
              <a:defRPr sz="1350" b="1" i="0">
                <a:solidFill>
                  <a:srgbClr val="38BDF8"/>
                </a:solidFill>
              </a:defRPr>
            </a:lvl3pPr>
            <a:lvl4pPr>
              <a:defRPr sz="1350" b="1" i="0">
                <a:solidFill>
                  <a:srgbClr val="38BDF8"/>
                </a:solidFill>
              </a:defRPr>
            </a:lvl4pPr>
            <a:lvl5pPr>
              <a:defRPr sz="1350" b="1" i="0">
                <a:solidFill>
                  <a:srgbClr val="38BDF8"/>
                </a:solidFill>
              </a:defRPr>
            </a:lvl5pPr>
            <a:lvl6pPr>
              <a:defRPr sz="1350" b="1" i="0">
                <a:solidFill>
                  <a:srgbClr val="38BDF8"/>
                </a:solidFill>
              </a:defRPr>
            </a:lvl6pPr>
            <a:lvl7pPr>
              <a:defRPr sz="1350" b="1" i="0">
                <a:solidFill>
                  <a:srgbClr val="38BDF8"/>
                </a:solidFill>
              </a:defRPr>
            </a:lvl7pPr>
            <a:lvl8pPr>
              <a:defRPr sz="1350" b="1" i="0">
                <a:solidFill>
                  <a:srgbClr val="38BDF8"/>
                </a:solidFill>
              </a:defRPr>
            </a:lvl8pPr>
            <a:lvl9pPr>
              <a:defRPr sz="135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38BDF8"/>
                </a:solidFill>
              </a:defRPr>
            </a:pPr>
            <a:r>
              <a:rPr sz="1350" b="1" i="0">
                <a:solidFill>
                  <a:srgbClr val="38BDF8"/>
                </a:solidFill>
              </a:rPr>
              <a:t>Image parsing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77F48-2D1C-470B-8838-C220D11C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05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pytest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114E2-632A-46B7-88BC-A1B29956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670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40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D3152-54D8-4F0B-BAD1-30E9EF65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Pipeline, geometry, row assignment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07339-49A6-446E-A7D3-9CC11F13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1028700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BB00E-A491-4B5E-8291-131DBA25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861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59E0B"/>
                </a:solidFill>
              </a:defRPr>
            </a:defPPr>
            <a:lvl1pPr>
              <a:defRPr sz="1350" b="1" i="0">
                <a:solidFill>
                  <a:srgbClr val="F59E0B"/>
                </a:solidFill>
              </a:defRPr>
            </a:lvl1pPr>
            <a:lvl2pPr>
              <a:defRPr sz="1350" b="1" i="0">
                <a:solidFill>
                  <a:srgbClr val="F59E0B"/>
                </a:solidFill>
              </a:defRPr>
            </a:lvl2pPr>
            <a:lvl3pPr>
              <a:defRPr sz="1350" b="1" i="0">
                <a:solidFill>
                  <a:srgbClr val="F59E0B"/>
                </a:solidFill>
              </a:defRPr>
            </a:lvl3pPr>
            <a:lvl4pPr>
              <a:defRPr sz="1350" b="1" i="0">
                <a:solidFill>
                  <a:srgbClr val="F59E0B"/>
                </a:solidFill>
              </a:defRPr>
            </a:lvl4pPr>
            <a:lvl5pPr>
              <a:defRPr sz="1350" b="1" i="0">
                <a:solidFill>
                  <a:srgbClr val="F59E0B"/>
                </a:solidFill>
              </a:defRPr>
            </a:lvl5pPr>
            <a:lvl6pPr>
              <a:defRPr sz="1350" b="1" i="0">
                <a:solidFill>
                  <a:srgbClr val="F59E0B"/>
                </a:solidFill>
              </a:defRPr>
            </a:lvl6pPr>
            <a:lvl7pPr>
              <a:defRPr sz="1350" b="1" i="0">
                <a:solidFill>
                  <a:srgbClr val="F59E0B"/>
                </a:solidFill>
              </a:defRPr>
            </a:lvl7pPr>
            <a:lvl8pPr>
              <a:defRPr sz="1350" b="1" i="0">
                <a:solidFill>
                  <a:srgbClr val="F59E0B"/>
                </a:solidFill>
              </a:defRPr>
            </a:lvl8pPr>
            <a:lvl9pPr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13831-AF64-48C8-A62A-259DCB37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86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Vitest + TypeScript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8F88C-619E-4F55-B1AF-B36C06D6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480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22 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23DEC-4193-4D77-B677-E78E123C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861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UI states and report calculations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3D917-5C74-4E56-BA6A-19E90997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0287000" cy="581025"/>
          </a:xfrm>
          <a:prstGeom xmlns:a="http://schemas.openxmlformats.org/drawingml/2006/main" prst="roundRect">
            <a:avLst>
              <a:gd name="adj" fmla="val 22951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3C340-5833-41BB-905D-4BF24D0B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67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6EE7B7"/>
                </a:solidFill>
              </a:defRPr>
            </a:defPPr>
            <a:lvl1pPr>
              <a:defRPr sz="1350" b="1" i="0">
                <a:solidFill>
                  <a:srgbClr val="6EE7B7"/>
                </a:solidFill>
              </a:defRPr>
            </a:lvl1pPr>
            <a:lvl2pPr>
              <a:defRPr sz="1350" b="1" i="0">
                <a:solidFill>
                  <a:srgbClr val="6EE7B7"/>
                </a:solidFill>
              </a:defRPr>
            </a:lvl2pPr>
            <a:lvl3pPr>
              <a:defRPr sz="1350" b="1" i="0">
                <a:solidFill>
                  <a:srgbClr val="6EE7B7"/>
                </a:solidFill>
              </a:defRPr>
            </a:lvl3pPr>
            <a:lvl4pPr>
              <a:defRPr sz="1350" b="1" i="0">
                <a:solidFill>
                  <a:srgbClr val="6EE7B7"/>
                </a:solidFill>
              </a:defRPr>
            </a:lvl4pPr>
            <a:lvl5pPr>
              <a:defRPr sz="1350" b="1" i="0">
                <a:solidFill>
                  <a:srgbClr val="6EE7B7"/>
                </a:solidFill>
              </a:defRPr>
            </a:lvl5pPr>
            <a:lvl6pPr>
              <a:defRPr sz="1350" b="1" i="0">
                <a:solidFill>
                  <a:srgbClr val="6EE7B7"/>
                </a:solidFill>
              </a:defRPr>
            </a:lvl6pPr>
            <a:lvl7pPr>
              <a:defRPr sz="1350" b="1" i="0">
                <a:solidFill>
                  <a:srgbClr val="6EE7B7"/>
                </a:solidFill>
              </a:defRPr>
            </a:lvl7pPr>
            <a:lvl8pPr>
              <a:defRPr sz="1350" b="1" i="0">
                <a:solidFill>
                  <a:srgbClr val="6EE7B7"/>
                </a:solidFill>
              </a:defRPr>
            </a:lvl8pPr>
            <a:lvl9pPr>
              <a:defRPr sz="1350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6EE7B7"/>
                </a:solidFill>
              </a:defRPr>
            </a:pPr>
            <a:r>
              <a:rPr sz="1350" b="1" i="0">
                <a:solidFill>
                  <a:srgbClr val="6EE7B7"/>
                </a:solidFill>
              </a:rPr>
              <a:t>End-to-end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941CF-D65C-4B0B-9D02-867169DB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67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Playwright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C63570-2C48-4687-88CF-622AC1A0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29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 i="0">
                <a:solidFill>
                  <a:srgbClr val="F8FAFC"/>
                </a:solidFill>
              </a:defRPr>
            </a:defPPr>
            <a:lvl1pPr>
              <a:defRPr sz="1725" b="1" i="0">
                <a:solidFill>
                  <a:srgbClr val="F8FAFC"/>
                </a:solidFill>
              </a:defRPr>
            </a:lvl1pPr>
            <a:lvl2pPr>
              <a:defRPr sz="1725" b="1" i="0">
                <a:solidFill>
                  <a:srgbClr val="F8FAFC"/>
                </a:solidFill>
              </a:defRPr>
            </a:lvl2pPr>
            <a:lvl3pPr>
              <a:defRPr sz="1725" b="1" i="0">
                <a:solidFill>
                  <a:srgbClr val="F8FAFC"/>
                </a:solidFill>
              </a:defRPr>
            </a:lvl3pPr>
            <a:lvl4pPr>
              <a:defRPr sz="1725" b="1" i="0">
                <a:solidFill>
                  <a:srgbClr val="F8FAFC"/>
                </a:solidFill>
              </a:defRPr>
            </a:lvl4pPr>
            <a:lvl5pPr>
              <a:defRPr sz="1725" b="1" i="0">
                <a:solidFill>
                  <a:srgbClr val="F8FAFC"/>
                </a:solidFill>
              </a:defRPr>
            </a:lvl5pPr>
            <a:lvl6pPr>
              <a:defRPr sz="1725" b="1" i="0">
                <a:solidFill>
                  <a:srgbClr val="F8FAFC"/>
                </a:solidFill>
              </a:defRPr>
            </a:lvl6pPr>
            <a:lvl7pPr>
              <a:defRPr sz="1725" b="1" i="0">
                <a:solidFill>
                  <a:srgbClr val="F8FAFC"/>
                </a:solidFill>
              </a:defRPr>
            </a:lvl7pPr>
            <a:lvl8pPr>
              <a:defRPr sz="1725" b="1" i="0">
                <a:solidFill>
                  <a:srgbClr val="F8FAFC"/>
                </a:solidFill>
              </a:defRPr>
            </a:lvl8pPr>
            <a:lvl9pPr>
              <a:defRPr sz="17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F8FAFC"/>
                </a:solidFill>
              </a:defRPr>
            </a:pPr>
            <a:r>
              <a:rPr sz="1725" b="1" i="0">
                <a:solidFill>
                  <a:srgbClr val="F8FAFC"/>
                </a:solidFill>
              </a:rPr>
              <a:t>2 passed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C812BB-1160-4266-9AE3-3EFD943A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672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Analysis product-match journey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308A2-4001-4270-B30F-B2FAC55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2870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211B17"/>
          </a:solidFill>
          <a:ln xmlns:a="http://schemas.openxmlformats.org/drawingml/2006/main" w="9525">
            <a:solidFill>
              <a:srgbClr val="59431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A9EBA8-3EA3-46CC-A025-46FEDE3C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67350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59E0B"/>
                </a:solidFill>
              </a:defRPr>
            </a:defPPr>
            <a:lvl1pPr>
              <a:defRPr sz="1200" b="1" i="0">
                <a:solidFill>
                  <a:srgbClr val="F59E0B"/>
                </a:solidFill>
              </a:defRPr>
            </a:lvl1pPr>
            <a:lvl2pPr>
              <a:defRPr sz="1200" b="1" i="0">
                <a:solidFill>
                  <a:srgbClr val="F59E0B"/>
                </a:solidFill>
              </a:defRPr>
            </a:lvl2pPr>
            <a:lvl3pPr>
              <a:defRPr sz="1200" b="1" i="0">
                <a:solidFill>
                  <a:srgbClr val="F59E0B"/>
                </a:solidFill>
              </a:defRPr>
            </a:lvl3pPr>
            <a:lvl4pPr>
              <a:defRPr sz="1200" b="1" i="0">
                <a:solidFill>
                  <a:srgbClr val="F59E0B"/>
                </a:solidFill>
              </a:defRPr>
            </a:lvl4pPr>
            <a:lvl5pPr>
              <a:defRPr sz="1200" b="1" i="0">
                <a:solidFill>
                  <a:srgbClr val="F59E0B"/>
                </a:solidFill>
              </a:defRPr>
            </a:lvl5pPr>
            <a:lvl6pPr>
              <a:defRPr sz="1200" b="1" i="0">
                <a:solidFill>
                  <a:srgbClr val="F59E0B"/>
                </a:solidFill>
              </a:defRPr>
            </a:lvl6pPr>
            <a:lvl7pPr>
              <a:defRPr sz="1200" b="1" i="0">
                <a:solidFill>
                  <a:srgbClr val="F59E0B"/>
                </a:solidFill>
              </a:defRPr>
            </a:lvl7pPr>
            <a:lvl8pPr>
              <a:defRPr sz="1200" b="1" i="0">
                <a:solidFill>
                  <a:srgbClr val="F59E0B"/>
                </a:solidFill>
              </a:defRPr>
            </a:lvl8pPr>
            <a:lvl9pPr>
              <a:defRPr sz="12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59E0B"/>
                </a:solidFill>
              </a:defRPr>
            </a:pPr>
            <a:r>
              <a:rPr sz="1200" b="1" i="0">
                <a:solidFill>
                  <a:srgbClr val="F59E0B"/>
                </a:solidFill>
              </a:rPr>
              <a:t>What these results do not 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39001-4F5B-447F-BF72-602768C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102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 i="0">
                <a:solidFill>
                  <a:srgbClr val="F8FAFC"/>
                </a:solidFill>
              </a:defRPr>
            </a:defPPr>
            <a:lvl1pPr>
              <a:defRPr sz="1200" b="0" i="0">
                <a:solidFill>
                  <a:srgbClr val="F8FAFC"/>
                </a:solidFill>
              </a:defRPr>
            </a:lvl1pPr>
            <a:lvl2pPr>
              <a:defRPr sz="1200" b="0" i="0">
                <a:solidFill>
                  <a:srgbClr val="F8FAFC"/>
                </a:solidFill>
              </a:defRPr>
            </a:lvl2pPr>
            <a:lvl3pPr>
              <a:defRPr sz="1200" b="0" i="0">
                <a:solidFill>
                  <a:srgbClr val="F8FAFC"/>
                </a:solidFill>
              </a:defRPr>
            </a:lvl3pPr>
            <a:lvl4pPr>
              <a:defRPr sz="1200" b="0" i="0">
                <a:solidFill>
                  <a:srgbClr val="F8FAFC"/>
                </a:solidFill>
              </a:defRPr>
            </a:lvl4pPr>
            <a:lvl5pPr>
              <a:defRPr sz="1200" b="0" i="0">
                <a:solidFill>
                  <a:srgbClr val="F8FAFC"/>
                </a:solidFill>
              </a:defRPr>
            </a:lvl5pPr>
            <a:lvl6pPr>
              <a:defRPr sz="1200" b="0" i="0">
                <a:solidFill>
                  <a:srgbClr val="F8FAFC"/>
                </a:solidFill>
              </a:defRPr>
            </a:lvl6pPr>
            <a:lvl7pPr>
              <a:defRPr sz="1200" b="0" i="0">
                <a:solidFill>
                  <a:srgbClr val="F8FAFC"/>
                </a:solidFill>
              </a:defRPr>
            </a:lvl7pPr>
            <a:lvl8pPr>
              <a:defRPr sz="1200" b="0" i="0">
                <a:solidFill>
                  <a:srgbClr val="F8FAFC"/>
                </a:solidFill>
              </a:defRPr>
            </a:lvl8pPr>
            <a:lvl9pPr>
              <a:defRPr sz="1200" b="0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F8FAFC"/>
                </a:solidFill>
              </a:defRPr>
            </a:pPr>
            <a:r>
              <a:rPr sz="1200" b="0" i="0">
                <a:solidFill>
                  <a:srgbClr val="F8FAFC"/>
                </a:solidFill>
              </a:rPr>
              <a:t>They confirm implemented behavior and regressions, not field accuracy, mAP, precision/recall, retail generalization, or OCR accuracy.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BBBD3-8F3D-4947-966E-72C92580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17A81-DCAD-491A-9ABE-8295D0FC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13  /  16</a:t>
            </a:r>
          </a:p>
        </p:txBody>
      </p:sp>
    </p:spTree>
    <p:extLst>
      <p:ext uri="{BB962C8B-B14F-4D97-AF65-F5344CB8AC3E}">
        <p14:creationId xmlns:p14="http://schemas.microsoft.com/office/powerpoint/2010/main" val="18210422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25DDE7-7E7C-4532-A126-1443DE2C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C88CD-D2C5-401E-97BE-1B4758DA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Key technical decisions and lessons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7E86F-CD55-4351-A2E6-7650A0E0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project moved from layout design toward an evidence-conservative photo-to-planogram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ECE64-9ADF-41EB-BE64-F13FD2E8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17C95-5EC0-490B-A5AA-77EB29A0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1917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D8280-4E46-4CA3-84F7-2407B269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4B0E1-50AB-4E60-B599-F1FCED4D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6EE7B7"/>
                </a:solidFill>
              </a:defRPr>
            </a:defPPr>
            <a:lvl1pPr>
              <a:defRPr sz="1200" b="1" i="0">
                <a:solidFill>
                  <a:srgbClr val="6EE7B7"/>
                </a:solidFill>
              </a:defRPr>
            </a:lvl1pPr>
            <a:lvl2pPr>
              <a:defRPr sz="1200" b="1" i="0">
                <a:solidFill>
                  <a:srgbClr val="6EE7B7"/>
                </a:solidFill>
              </a:defRPr>
            </a:lvl2pPr>
            <a:lvl3pPr>
              <a:defRPr sz="1200" b="1" i="0">
                <a:solidFill>
                  <a:srgbClr val="6EE7B7"/>
                </a:solidFill>
              </a:defRPr>
            </a:lvl3pPr>
            <a:lvl4pPr>
              <a:defRPr sz="1200" b="1" i="0">
                <a:solidFill>
                  <a:srgbClr val="6EE7B7"/>
                </a:solidFill>
              </a:defRPr>
            </a:lvl4pPr>
            <a:lvl5pPr>
              <a:defRPr sz="1200" b="1" i="0">
                <a:solidFill>
                  <a:srgbClr val="6EE7B7"/>
                </a:solidFill>
              </a:defRPr>
            </a:lvl5pPr>
            <a:lvl6pPr>
              <a:defRPr sz="1200" b="1" i="0">
                <a:solidFill>
                  <a:srgbClr val="6EE7B7"/>
                </a:solidFill>
              </a:defRPr>
            </a:lvl6pPr>
            <a:lvl7pPr>
              <a:defRPr sz="1200" b="1" i="0">
                <a:solidFill>
                  <a:srgbClr val="6EE7B7"/>
                </a:solidFill>
              </a:defRPr>
            </a:lvl7pPr>
            <a:lvl8pPr>
              <a:defRPr sz="1200" b="1" i="0">
                <a:solidFill>
                  <a:srgbClr val="6EE7B7"/>
                </a:solidFill>
              </a:defRPr>
            </a:lvl8pPr>
            <a:lvl9pPr>
              <a:defRPr sz="1200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4ACEB-277D-4E58-941B-1CAC2208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62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Physical centimetres instead of pixels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9210A-5C28-4AB7-8CDD-6295D2E7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003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Allows layout rules, exports, and compliance positions to use a common real-world coordinate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548D2-7E2E-49A2-AFBA-43EE28C4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1917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C4E26-1941-4553-AF45-D2ECE03A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2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B419F-6CB8-4C12-B5B5-CF785251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38BDF8"/>
                </a:solidFill>
              </a:defRPr>
            </a:defPPr>
            <a:lvl1pPr>
              <a:defRPr sz="1200" b="1" i="0">
                <a:solidFill>
                  <a:srgbClr val="38BDF8"/>
                </a:solidFill>
              </a:defRPr>
            </a:lvl1pPr>
            <a:lvl2pPr>
              <a:defRPr sz="1200" b="1" i="0">
                <a:solidFill>
                  <a:srgbClr val="38BDF8"/>
                </a:solidFill>
              </a:defRPr>
            </a:lvl2pPr>
            <a:lvl3pPr>
              <a:defRPr sz="1200" b="1" i="0">
                <a:solidFill>
                  <a:srgbClr val="38BDF8"/>
                </a:solidFill>
              </a:defRPr>
            </a:lvl3pPr>
            <a:lvl4pPr>
              <a:defRPr sz="1200" b="1" i="0">
                <a:solidFill>
                  <a:srgbClr val="38BDF8"/>
                </a:solidFill>
              </a:defRPr>
            </a:lvl4pPr>
            <a:lvl5pPr>
              <a:defRPr sz="1200" b="1" i="0">
                <a:solidFill>
                  <a:srgbClr val="38BDF8"/>
                </a:solidFill>
              </a:defRPr>
            </a:lvl5pPr>
            <a:lvl6pPr>
              <a:defRPr sz="1200" b="1" i="0">
                <a:solidFill>
                  <a:srgbClr val="38BDF8"/>
                </a:solidFill>
              </a:defRPr>
            </a:lvl6pPr>
            <a:lvl7pPr>
              <a:defRPr sz="1200" b="1" i="0">
                <a:solidFill>
                  <a:srgbClr val="38BDF8"/>
                </a:solidFill>
              </a:defRPr>
            </a:lvl7pPr>
            <a:lvl8pPr>
              <a:defRPr sz="1200" b="1" i="0">
                <a:solidFill>
                  <a:srgbClr val="38BDF8"/>
                </a:solidFill>
              </a:defRPr>
            </a:lvl8pPr>
            <a:lvl9pPr>
              <a:defRPr sz="120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38BDF8"/>
                </a:solidFill>
              </a:defRPr>
            </a:pPr>
            <a:r>
              <a:rPr sz="1200" b="1" i="0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287E3-7F63-4ABC-8161-81F0BB7D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384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Immutable audit snapshot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BAF34-CCF1-49D0-A8E3-F13620FC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Prevents a later planogram edit from rewriting the expected state of an already processed shelf photo.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6F76B-B178-4FB0-8157-0DE350C7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1917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A3848-38CD-412A-B276-33DDF449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3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3F339-C0C7-4EF0-A392-F2B2F540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59E0B"/>
                </a:solidFill>
              </a:defRPr>
            </a:defPPr>
            <a:lvl1pPr>
              <a:defRPr sz="1200" b="1" i="0">
                <a:solidFill>
                  <a:srgbClr val="F59E0B"/>
                </a:solidFill>
              </a:defRPr>
            </a:lvl1pPr>
            <a:lvl2pPr>
              <a:defRPr sz="1200" b="1" i="0">
                <a:solidFill>
                  <a:srgbClr val="F59E0B"/>
                </a:solidFill>
              </a:defRPr>
            </a:lvl2pPr>
            <a:lvl3pPr>
              <a:defRPr sz="1200" b="1" i="0">
                <a:solidFill>
                  <a:srgbClr val="F59E0B"/>
                </a:solidFill>
              </a:defRPr>
            </a:lvl3pPr>
            <a:lvl4pPr>
              <a:defRPr sz="1200" b="1" i="0">
                <a:solidFill>
                  <a:srgbClr val="F59E0B"/>
                </a:solidFill>
              </a:defRPr>
            </a:lvl4pPr>
            <a:lvl5pPr>
              <a:defRPr sz="1200" b="1" i="0">
                <a:solidFill>
                  <a:srgbClr val="F59E0B"/>
                </a:solidFill>
              </a:defRPr>
            </a:lvl5pPr>
            <a:lvl6pPr>
              <a:defRPr sz="1200" b="1" i="0">
                <a:solidFill>
                  <a:srgbClr val="F59E0B"/>
                </a:solidFill>
              </a:defRPr>
            </a:lvl6pPr>
            <a:lvl7pPr>
              <a:defRPr sz="1200" b="1" i="0">
                <a:solidFill>
                  <a:srgbClr val="F59E0B"/>
                </a:solidFill>
              </a:defRPr>
            </a:lvl7pPr>
            <a:lvl8pPr>
              <a:defRPr sz="1200" b="1" i="0">
                <a:solidFill>
                  <a:srgbClr val="F59E0B"/>
                </a:solidFill>
              </a:defRPr>
            </a:lvl8pPr>
            <a:lvl9pPr>
              <a:defRPr sz="12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59E0B"/>
                </a:solidFill>
              </a:defRPr>
            </a:pPr>
            <a:r>
              <a:rPr sz="12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FC8DA-2CE4-422D-884E-BA9285DE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14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Shelf-scoped candidates before CLIP matching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BD4F8-227D-4D6E-969A-A1A74E26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529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Reduces irrelevant lookalike candidates and preserves the job’s relevant product catalogue.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F3E02-F6BC-4BAE-BA18-857E727F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1917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91DFA-AC7C-4C40-A31A-41562A0B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421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A11F8-CE90-4141-84F3-8C034FD8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B7185"/>
                </a:solidFill>
              </a:defRPr>
            </a:defPPr>
            <a:lvl1pPr>
              <a:defRPr sz="1200" b="1" i="0">
                <a:solidFill>
                  <a:srgbClr val="FB7185"/>
                </a:solidFill>
              </a:defRPr>
            </a:lvl1pPr>
            <a:lvl2pPr>
              <a:defRPr sz="1200" b="1" i="0">
                <a:solidFill>
                  <a:srgbClr val="FB7185"/>
                </a:solidFill>
              </a:defRPr>
            </a:lvl2pPr>
            <a:lvl3pPr>
              <a:defRPr sz="1200" b="1" i="0">
                <a:solidFill>
                  <a:srgbClr val="FB7185"/>
                </a:solidFill>
              </a:defRPr>
            </a:lvl3pPr>
            <a:lvl4pPr>
              <a:defRPr sz="1200" b="1" i="0">
                <a:solidFill>
                  <a:srgbClr val="FB7185"/>
                </a:solidFill>
              </a:defRPr>
            </a:lvl4pPr>
            <a:lvl5pPr>
              <a:defRPr sz="1200" b="1" i="0">
                <a:solidFill>
                  <a:srgbClr val="FB7185"/>
                </a:solidFill>
              </a:defRPr>
            </a:lvl5pPr>
            <a:lvl6pPr>
              <a:defRPr sz="1200" b="1" i="0">
                <a:solidFill>
                  <a:srgbClr val="FB7185"/>
                </a:solidFill>
              </a:defRPr>
            </a:lvl6pPr>
            <a:lvl7pPr>
              <a:defRPr sz="1200" b="1" i="0">
                <a:solidFill>
                  <a:srgbClr val="FB7185"/>
                </a:solidFill>
              </a:defRPr>
            </a:lvl7pPr>
            <a:lvl8pPr>
              <a:defRPr sz="1200" b="1" i="0">
                <a:solidFill>
                  <a:srgbClr val="FB7185"/>
                </a:solidFill>
              </a:defRPr>
            </a:lvl8pPr>
            <a:lvl9pPr>
              <a:defRPr sz="120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B7185"/>
                </a:solidFill>
              </a:defRPr>
            </a:pPr>
            <a:r>
              <a:rPr sz="1200" b="1" i="0">
                <a:solidFill>
                  <a:srgbClr val="FB71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46536-E835-49FE-8D8E-35F06C1E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91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8FAFC"/>
                </a:solidFill>
              </a:defRPr>
            </a:defPPr>
            <a:lvl1pPr>
              <a:defRPr sz="1350" b="1" i="0">
                <a:solidFill>
                  <a:srgbClr val="F8FAFC"/>
                </a:solidFill>
              </a:defRPr>
            </a:lvl1pPr>
            <a:lvl2pPr>
              <a:defRPr sz="1350" b="1" i="0">
                <a:solidFill>
                  <a:srgbClr val="F8FAFC"/>
                </a:solidFill>
              </a:defRPr>
            </a:lvl2pPr>
            <a:lvl3pPr>
              <a:defRPr sz="1350" b="1" i="0">
                <a:solidFill>
                  <a:srgbClr val="F8FAFC"/>
                </a:solidFill>
              </a:defRPr>
            </a:lvl3pPr>
            <a:lvl4pPr>
              <a:defRPr sz="1350" b="1" i="0">
                <a:solidFill>
                  <a:srgbClr val="F8FAFC"/>
                </a:solidFill>
              </a:defRPr>
            </a:lvl4pPr>
            <a:lvl5pPr>
              <a:defRPr sz="1350" b="1" i="0">
                <a:solidFill>
                  <a:srgbClr val="F8FAFC"/>
                </a:solidFill>
              </a:defRPr>
            </a:lvl5pPr>
            <a:lvl6pPr>
              <a:defRPr sz="1350" b="1" i="0">
                <a:solidFill>
                  <a:srgbClr val="F8FAFC"/>
                </a:solidFill>
              </a:defRPr>
            </a:lvl6pPr>
            <a:lvl7pPr>
              <a:defRPr sz="1350" b="1" i="0">
                <a:solidFill>
                  <a:srgbClr val="F8FAFC"/>
                </a:solidFill>
              </a:defRPr>
            </a:lvl7pPr>
            <a:lvl8pPr>
              <a:defRPr sz="1350" b="1" i="0">
                <a:solidFill>
                  <a:srgbClr val="F8FAFC"/>
                </a:solidFill>
              </a:defRPr>
            </a:lvl8pPr>
            <a:lvl9pPr>
              <a:defRPr sz="135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8FAFC"/>
                </a:solidFill>
              </a:defRPr>
            </a:pPr>
            <a:r>
              <a:rPr sz="1350" b="1" i="0">
                <a:solidFill>
                  <a:srgbClr val="F8FAFC"/>
                </a:solidFill>
              </a:rPr>
              <a:t>Conservative compliance outcomes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932DB-CCC5-42B8-B5AE-1365E546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292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 i="0">
                <a:solidFill>
                  <a:srgbClr val="E2E8F0"/>
                </a:solidFill>
              </a:defRPr>
            </a:defPPr>
            <a:lvl1pPr>
              <a:defRPr sz="1050" b="0" i="0">
                <a:solidFill>
                  <a:srgbClr val="E2E8F0"/>
                </a:solidFill>
              </a:defRPr>
            </a:lvl1pPr>
            <a:lvl2pPr>
              <a:defRPr sz="1050" b="0" i="0">
                <a:solidFill>
                  <a:srgbClr val="E2E8F0"/>
                </a:solidFill>
              </a:defRPr>
            </a:lvl2pPr>
            <a:lvl3pPr>
              <a:defRPr sz="1050" b="0" i="0">
                <a:solidFill>
                  <a:srgbClr val="E2E8F0"/>
                </a:solidFill>
              </a:defRPr>
            </a:lvl3pPr>
            <a:lvl4pPr>
              <a:defRPr sz="1050" b="0" i="0">
                <a:solidFill>
                  <a:srgbClr val="E2E8F0"/>
                </a:solidFill>
              </a:defRPr>
            </a:lvl4pPr>
            <a:lvl5pPr>
              <a:defRPr sz="1050" b="0" i="0">
                <a:solidFill>
                  <a:srgbClr val="E2E8F0"/>
                </a:solidFill>
              </a:defRPr>
            </a:lvl5pPr>
            <a:lvl6pPr>
              <a:defRPr sz="1050" b="0" i="0">
                <a:solidFill>
                  <a:srgbClr val="E2E8F0"/>
                </a:solidFill>
              </a:defRPr>
            </a:lvl6pPr>
            <a:lvl7pPr>
              <a:defRPr sz="1050" b="0" i="0">
                <a:solidFill>
                  <a:srgbClr val="E2E8F0"/>
                </a:solidFill>
              </a:defRPr>
            </a:lvl7pPr>
            <a:lvl8pPr>
              <a:defRPr sz="1050" b="0" i="0">
                <a:solidFill>
                  <a:srgbClr val="E2E8F0"/>
                </a:solidFill>
              </a:defRPr>
            </a:lvl8pPr>
            <a:lvl9pPr>
              <a:defRPr sz="1050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050" b="0" i="0">
                <a:solidFill>
                  <a:srgbClr val="E2E8F0"/>
                </a:solidFill>
              </a:defRPr>
            </a:pPr>
            <a:r>
              <a:rPr sz="1050" b="0" i="0">
                <a:solidFill>
                  <a:srgbClr val="E2E8F0"/>
                </a:solidFill>
              </a:rPr>
              <a:t>Uncalibrated position or weak identity evidence becomes review-needed, not a fabricated shortage or exact-SKU claim.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1B9DC-63F6-4E03-85F7-535390B4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71C99B-8959-4AB4-ADF6-FA781E40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14  /  16</a:t>
            </a:r>
          </a:p>
        </p:txBody>
      </p:sp>
    </p:spTree>
    <p:extLst>
      <p:ext uri="{BB962C8B-B14F-4D97-AF65-F5344CB8AC3E}">
        <p14:creationId xmlns:p14="http://schemas.microsoft.com/office/powerpoint/2010/main" val="1271583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64228B-2F04-4803-A753-73D69BA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CDB46-867A-4675-8C0F-5739515B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Current limitations and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51225-9565-4B49-ACCD-05CB1114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prototype intentionally keeps uncertain evidence visible instead of overstating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FCE19-5C05-4B98-BA07-65CA23EC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BB843-F8C5-4501-9D5C-5E84B0A3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4035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6E684-C011-4E2C-B159-C4043C86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59E0B"/>
                </a:solidFill>
              </a:defRPr>
            </a:defPPr>
            <a:lvl1pPr>
              <a:defRPr sz="1350" b="1" i="0">
                <a:solidFill>
                  <a:srgbClr val="F59E0B"/>
                </a:solidFill>
              </a:defRPr>
            </a:lvl1pPr>
            <a:lvl2pPr>
              <a:defRPr sz="1350" b="1" i="0">
                <a:solidFill>
                  <a:srgbClr val="F59E0B"/>
                </a:solidFill>
              </a:defRPr>
            </a:lvl2pPr>
            <a:lvl3pPr>
              <a:defRPr sz="1350" b="1" i="0">
                <a:solidFill>
                  <a:srgbClr val="F59E0B"/>
                </a:solidFill>
              </a:defRPr>
            </a:lvl3pPr>
            <a:lvl4pPr>
              <a:defRPr sz="1350" b="1" i="0">
                <a:solidFill>
                  <a:srgbClr val="F59E0B"/>
                </a:solidFill>
              </a:defRPr>
            </a:lvl4pPr>
            <a:lvl5pPr>
              <a:defRPr sz="1350" b="1" i="0">
                <a:solidFill>
                  <a:srgbClr val="F59E0B"/>
                </a:solidFill>
              </a:defRPr>
            </a:lvl5pPr>
            <a:lvl6pPr>
              <a:defRPr sz="1350" b="1" i="0">
                <a:solidFill>
                  <a:srgbClr val="F59E0B"/>
                </a:solidFill>
              </a:defRPr>
            </a:lvl6pPr>
            <a:lvl7pPr>
              <a:defRPr sz="1350" b="1" i="0">
                <a:solidFill>
                  <a:srgbClr val="F59E0B"/>
                </a:solidFill>
              </a:defRPr>
            </a:lvl7pPr>
            <a:lvl8pPr>
              <a:defRPr sz="1350" b="1" i="0">
                <a:solidFill>
                  <a:srgbClr val="F59E0B"/>
                </a:solidFill>
              </a:defRPr>
            </a:lvl8pPr>
            <a:lvl9pPr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Model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B8C29-B69D-45F6-88A0-5B71E8FF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No labelled real-shelf benchmark provides precision, recall, mAP, or SKU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D9A0D-16DD-4FAA-9DF0-C7FB70D6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403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88F1C-1ADD-4D5B-9764-AA7657A6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59E0B"/>
                </a:solidFill>
              </a:defRPr>
            </a:defPPr>
            <a:lvl1pPr>
              <a:defRPr sz="1350" b="1" i="0">
                <a:solidFill>
                  <a:srgbClr val="F59E0B"/>
                </a:solidFill>
              </a:defRPr>
            </a:lvl1pPr>
            <a:lvl2pPr>
              <a:defRPr sz="1350" b="1" i="0">
                <a:solidFill>
                  <a:srgbClr val="F59E0B"/>
                </a:solidFill>
              </a:defRPr>
            </a:lvl2pPr>
            <a:lvl3pPr>
              <a:defRPr sz="1350" b="1" i="0">
                <a:solidFill>
                  <a:srgbClr val="F59E0B"/>
                </a:solidFill>
              </a:defRPr>
            </a:lvl3pPr>
            <a:lvl4pPr>
              <a:defRPr sz="1350" b="1" i="0">
                <a:solidFill>
                  <a:srgbClr val="F59E0B"/>
                </a:solidFill>
              </a:defRPr>
            </a:lvl4pPr>
            <a:lvl5pPr>
              <a:defRPr sz="1350" b="1" i="0">
                <a:solidFill>
                  <a:srgbClr val="F59E0B"/>
                </a:solidFill>
              </a:defRPr>
            </a:lvl5pPr>
            <a:lvl6pPr>
              <a:defRPr sz="1350" b="1" i="0">
                <a:solidFill>
                  <a:srgbClr val="F59E0B"/>
                </a:solidFill>
              </a:defRPr>
            </a:lvl6pPr>
            <a:lvl7pPr>
              <a:defRPr sz="1350" b="1" i="0">
                <a:solidFill>
                  <a:srgbClr val="F59E0B"/>
                </a:solidFill>
              </a:defRPr>
            </a:lvl7pPr>
            <a:lvl8pPr>
              <a:defRPr sz="1350" b="1" i="0">
                <a:solidFill>
                  <a:srgbClr val="F59E0B"/>
                </a:solidFill>
              </a:defRPr>
            </a:lvl8pPr>
            <a:lvl9pPr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Matching thresholds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2EB99-857D-4BEE-B6DA-8040420A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CLIP threshold and ambiguity margin are fixture-informed but not calibrated across product categories.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FC127-DC4D-4CEF-84A3-C47D0129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4035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50650-CD66-49EC-BD82-889B8EA9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59E0B"/>
                </a:solidFill>
              </a:defRPr>
            </a:defPPr>
            <a:lvl1pPr>
              <a:defRPr sz="1350" b="1" i="0">
                <a:solidFill>
                  <a:srgbClr val="F59E0B"/>
                </a:solidFill>
              </a:defRPr>
            </a:lvl1pPr>
            <a:lvl2pPr>
              <a:defRPr sz="1350" b="1" i="0">
                <a:solidFill>
                  <a:srgbClr val="F59E0B"/>
                </a:solidFill>
              </a:defRPr>
            </a:lvl2pPr>
            <a:lvl3pPr>
              <a:defRPr sz="1350" b="1" i="0">
                <a:solidFill>
                  <a:srgbClr val="F59E0B"/>
                </a:solidFill>
              </a:defRPr>
            </a:lvl3pPr>
            <a:lvl4pPr>
              <a:defRPr sz="1350" b="1" i="0">
                <a:solidFill>
                  <a:srgbClr val="F59E0B"/>
                </a:solidFill>
              </a:defRPr>
            </a:lvl4pPr>
            <a:lvl5pPr>
              <a:defRPr sz="1350" b="1" i="0">
                <a:solidFill>
                  <a:srgbClr val="F59E0B"/>
                </a:solidFill>
              </a:defRPr>
            </a:lvl5pPr>
            <a:lvl6pPr>
              <a:defRPr sz="1350" b="1" i="0">
                <a:solidFill>
                  <a:srgbClr val="F59E0B"/>
                </a:solidFill>
              </a:defRPr>
            </a:lvl6pPr>
            <a:lvl7pPr>
              <a:defRPr sz="1350" b="1" i="0">
                <a:solidFill>
                  <a:srgbClr val="F59E0B"/>
                </a:solidFill>
              </a:defRPr>
            </a:lvl7pPr>
            <a:lvl8pPr>
              <a:defRPr sz="1350" b="1" i="0">
                <a:solidFill>
                  <a:srgbClr val="F59E0B"/>
                </a:solidFill>
              </a:defRPr>
            </a:lvl8pPr>
            <a:lvl9pPr>
              <a:defRPr sz="135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Geometry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951A4-2C6D-4AB1-8652-BE2B5A63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Perspective handling supports optional ArUco calibration; physical repeatability remains unmeasured.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7FD8D-4D33-4BB6-9495-65C49934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5134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C1D93-FE63-4EF0-A27B-484AA295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B7185"/>
                </a:solidFill>
              </a:defRPr>
            </a:defPPr>
            <a:lvl1pPr>
              <a:defRPr sz="1350" b="1" i="0">
                <a:solidFill>
                  <a:srgbClr val="FB7185"/>
                </a:solidFill>
              </a:defRPr>
            </a:lvl1pPr>
            <a:lvl2pPr>
              <a:defRPr sz="1350" b="1" i="0">
                <a:solidFill>
                  <a:srgbClr val="FB7185"/>
                </a:solidFill>
              </a:defRPr>
            </a:lvl2pPr>
            <a:lvl3pPr>
              <a:defRPr sz="1350" b="1" i="0">
                <a:solidFill>
                  <a:srgbClr val="FB7185"/>
                </a:solidFill>
              </a:defRPr>
            </a:lvl3pPr>
            <a:lvl4pPr>
              <a:defRPr sz="1350" b="1" i="0">
                <a:solidFill>
                  <a:srgbClr val="FB7185"/>
                </a:solidFill>
              </a:defRPr>
            </a:lvl4pPr>
            <a:lvl5pPr>
              <a:defRPr sz="1350" b="1" i="0">
                <a:solidFill>
                  <a:srgbClr val="FB7185"/>
                </a:solidFill>
              </a:defRPr>
            </a:lvl5pPr>
            <a:lvl6pPr>
              <a:defRPr sz="1350" b="1" i="0">
                <a:solidFill>
                  <a:srgbClr val="FB7185"/>
                </a:solidFill>
              </a:defRPr>
            </a:lvl6pPr>
            <a:lvl7pPr>
              <a:defRPr sz="1350" b="1" i="0">
                <a:solidFill>
                  <a:srgbClr val="FB7185"/>
                </a:solidFill>
              </a:defRPr>
            </a:lvl7pPr>
            <a:lvl8pPr>
              <a:defRPr sz="1350" b="1" i="0">
                <a:solidFill>
                  <a:srgbClr val="FB7185"/>
                </a:solidFill>
              </a:defRPr>
            </a:lvl8pPr>
            <a:lvl9pPr>
              <a:defRPr sz="135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B7185"/>
                </a:solidFill>
              </a:defRPr>
            </a:pPr>
            <a:r>
              <a:rPr sz="1350" b="1" i="0">
                <a:solidFill>
                  <a:srgbClr val="FB7185"/>
                </a:solidFill>
              </a:rPr>
              <a:t>Catalogue variants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8495F-26CD-45B5-9E58-53829E61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98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Packshot embeddings and color gates can confuse visually similar packs and seasonal changes.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6B10C-7CC2-4DA5-BBB2-0DE73321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5277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5134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2E219-A823-4073-8387-E96B9300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242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B7185"/>
                </a:solidFill>
              </a:defRPr>
            </a:defPPr>
            <a:lvl1pPr>
              <a:defRPr sz="1350" b="1" i="0">
                <a:solidFill>
                  <a:srgbClr val="FB7185"/>
                </a:solidFill>
              </a:defRPr>
            </a:lvl1pPr>
            <a:lvl2pPr>
              <a:defRPr sz="1350" b="1" i="0">
                <a:solidFill>
                  <a:srgbClr val="FB7185"/>
                </a:solidFill>
              </a:defRPr>
            </a:lvl2pPr>
            <a:lvl3pPr>
              <a:defRPr sz="1350" b="1" i="0">
                <a:solidFill>
                  <a:srgbClr val="FB7185"/>
                </a:solidFill>
              </a:defRPr>
            </a:lvl3pPr>
            <a:lvl4pPr>
              <a:defRPr sz="1350" b="1" i="0">
                <a:solidFill>
                  <a:srgbClr val="FB7185"/>
                </a:solidFill>
              </a:defRPr>
            </a:lvl4pPr>
            <a:lvl5pPr>
              <a:defRPr sz="1350" b="1" i="0">
                <a:solidFill>
                  <a:srgbClr val="FB7185"/>
                </a:solidFill>
              </a:defRPr>
            </a:lvl5pPr>
            <a:lvl6pPr>
              <a:defRPr sz="1350" b="1" i="0">
                <a:solidFill>
                  <a:srgbClr val="FB7185"/>
                </a:solidFill>
              </a:defRPr>
            </a:lvl6pPr>
            <a:lvl7pPr>
              <a:defRPr sz="1350" b="1" i="0">
                <a:solidFill>
                  <a:srgbClr val="FB7185"/>
                </a:solidFill>
              </a:defRPr>
            </a:lvl7pPr>
            <a:lvl8pPr>
              <a:defRPr sz="1350" b="1" i="0">
                <a:solidFill>
                  <a:srgbClr val="FB7185"/>
                </a:solidFill>
              </a:defRPr>
            </a:lvl8pPr>
            <a:lvl9pPr>
              <a:defRPr sz="135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B7185"/>
                </a:solidFill>
              </a:defRPr>
            </a:pPr>
            <a:r>
              <a:rPr sz="1350" b="1" i="0">
                <a:solidFill>
                  <a:srgbClr val="FB7185"/>
                </a:solidFill>
              </a:rPr>
              <a:t>OCR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F1B71-42F3-4FA2-81F3-EC50F8A4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99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Live smoke test exists, but no labelled price-tag data supports accuracy claims.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DA449-2FC7-48DA-8548-D9D9A1D0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52925"/>
            <a:ext cx="52387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81F"/>
          </a:solidFill>
          <a:ln xmlns:a="http://schemas.openxmlformats.org/drawingml/2006/main" w="9525">
            <a:solidFill>
              <a:srgbClr val="5134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08E88-3D06-4575-9980-A458C17D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243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1" i="0">
                <a:solidFill>
                  <a:srgbClr val="FB7185"/>
                </a:solidFill>
              </a:defRPr>
            </a:defPPr>
            <a:lvl1pPr>
              <a:defRPr sz="1350" b="1" i="0">
                <a:solidFill>
                  <a:srgbClr val="FB7185"/>
                </a:solidFill>
              </a:defRPr>
            </a:lvl1pPr>
            <a:lvl2pPr>
              <a:defRPr sz="1350" b="1" i="0">
                <a:solidFill>
                  <a:srgbClr val="FB7185"/>
                </a:solidFill>
              </a:defRPr>
            </a:lvl2pPr>
            <a:lvl3pPr>
              <a:defRPr sz="1350" b="1" i="0">
                <a:solidFill>
                  <a:srgbClr val="FB7185"/>
                </a:solidFill>
              </a:defRPr>
            </a:lvl3pPr>
            <a:lvl4pPr>
              <a:defRPr sz="1350" b="1" i="0">
                <a:solidFill>
                  <a:srgbClr val="FB7185"/>
                </a:solidFill>
              </a:defRPr>
            </a:lvl4pPr>
            <a:lvl5pPr>
              <a:defRPr sz="1350" b="1" i="0">
                <a:solidFill>
                  <a:srgbClr val="FB7185"/>
                </a:solidFill>
              </a:defRPr>
            </a:lvl5pPr>
            <a:lvl6pPr>
              <a:defRPr sz="1350" b="1" i="0">
                <a:solidFill>
                  <a:srgbClr val="FB7185"/>
                </a:solidFill>
              </a:defRPr>
            </a:lvl6pPr>
            <a:lvl7pPr>
              <a:defRPr sz="1350" b="1" i="0">
                <a:solidFill>
                  <a:srgbClr val="FB7185"/>
                </a:solidFill>
              </a:defRPr>
            </a:lvl7pPr>
            <a:lvl8pPr>
              <a:defRPr sz="1350" b="1" i="0">
                <a:solidFill>
                  <a:srgbClr val="FB7185"/>
                </a:solidFill>
              </a:defRPr>
            </a:lvl8pPr>
            <a:lvl9pPr>
              <a:defRPr sz="135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FB7185"/>
                </a:solidFill>
              </a:defRPr>
            </a:pPr>
            <a:r>
              <a:rPr sz="1350" b="1" i="0">
                <a:solidFill>
                  <a:srgbClr val="FB7185"/>
                </a:solidFill>
              </a:rPr>
              <a:t>Operational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63427-92C7-4DD7-B665-AB57948D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01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Local SQLite, disk storage, and model dependencies suit prototype use rather than production scale.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DD013-FD49-4F8A-82FE-5FAFFF16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64F70-F20C-408C-AB5A-34FBA389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15  /  16</a:t>
            </a:r>
          </a:p>
        </p:txBody>
      </p:sp>
    </p:spTree>
    <p:extLst>
      <p:ext uri="{BB962C8B-B14F-4D97-AF65-F5344CB8AC3E}">
        <p14:creationId xmlns:p14="http://schemas.microsoft.com/office/powerpoint/2010/main" val="11233490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7DDBB-8378-4F22-AAB9-3C289184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1" i="0">
                <a:solidFill>
                  <a:srgbClr val="2DD4BF"/>
                </a:solidFill>
              </a:defRPr>
            </a:defPPr>
            <a:lvl1pPr>
              <a:defRPr sz="900" b="1" i="0">
                <a:solidFill>
                  <a:srgbClr val="2DD4BF"/>
                </a:solidFill>
              </a:defRPr>
            </a:lvl1pPr>
            <a:lvl2pPr>
              <a:defRPr sz="900" b="1" i="0">
                <a:solidFill>
                  <a:srgbClr val="2DD4BF"/>
                </a:solidFill>
              </a:defRPr>
            </a:lvl2pPr>
            <a:lvl3pPr>
              <a:defRPr sz="900" b="1" i="0">
                <a:solidFill>
                  <a:srgbClr val="2DD4BF"/>
                </a:solidFill>
              </a:defRPr>
            </a:lvl3pPr>
            <a:lvl4pPr>
              <a:defRPr sz="900" b="1" i="0">
                <a:solidFill>
                  <a:srgbClr val="2DD4BF"/>
                </a:solidFill>
              </a:defRPr>
            </a:lvl4pPr>
            <a:lvl5pPr>
              <a:defRPr sz="900" b="1" i="0">
                <a:solidFill>
                  <a:srgbClr val="2DD4BF"/>
                </a:solidFill>
              </a:defRPr>
            </a:lvl5pPr>
            <a:lvl6pPr>
              <a:defRPr sz="900" b="1" i="0">
                <a:solidFill>
                  <a:srgbClr val="2DD4BF"/>
                </a:solidFill>
              </a:defRPr>
            </a:lvl6pPr>
            <a:lvl7pPr>
              <a:defRPr sz="900" b="1" i="0">
                <a:solidFill>
                  <a:srgbClr val="2DD4BF"/>
                </a:solidFill>
              </a:defRPr>
            </a:lvl7pPr>
            <a:lvl8pPr>
              <a:defRPr sz="900" b="1" i="0">
                <a:solidFill>
                  <a:srgbClr val="2DD4BF"/>
                </a:solidFill>
              </a:defRPr>
            </a:lvl8pPr>
            <a:lvl9pPr>
              <a:defRPr sz="900" b="1" i="0">
                <a:solidFill>
                  <a:srgbClr val="2DD4BF"/>
                </a:solidFill>
              </a:defRPr>
            </a:lvl9pPr>
          </a:lstStyle>
          <a:p xmlns:a="http://schemas.openxmlformats.org/drawingml/2006/main">
            <a:pPr>
              <a:defRPr sz="900" b="1" i="0">
                <a:solidFill>
                  <a:srgbClr val="2DD4BF"/>
                </a:solidFill>
              </a:defRPr>
            </a:pPr>
            <a:r>
              <a:rPr sz="900" b="1" i="0">
                <a:solidFill>
                  <a:srgbClr val="2DD4BF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AC87F-4A3E-47AD-98EA-94EA793F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 i="0">
                <a:solidFill>
                  <a:srgbClr val="F8FAFC"/>
                </a:solidFill>
              </a:defRPr>
            </a:defPPr>
            <a:lvl1pPr>
              <a:defRPr sz="2325" b="1" i="0">
                <a:solidFill>
                  <a:srgbClr val="F8FAFC"/>
                </a:solidFill>
              </a:defRPr>
            </a:lvl1pPr>
            <a:lvl2pPr>
              <a:defRPr sz="2325" b="1" i="0">
                <a:solidFill>
                  <a:srgbClr val="F8FAFC"/>
                </a:solidFill>
              </a:defRPr>
            </a:lvl2pPr>
            <a:lvl3pPr>
              <a:defRPr sz="2325" b="1" i="0">
                <a:solidFill>
                  <a:srgbClr val="F8FAFC"/>
                </a:solidFill>
              </a:defRPr>
            </a:lvl3pPr>
            <a:lvl4pPr>
              <a:defRPr sz="2325" b="1" i="0">
                <a:solidFill>
                  <a:srgbClr val="F8FAFC"/>
                </a:solidFill>
              </a:defRPr>
            </a:lvl4pPr>
            <a:lvl5pPr>
              <a:defRPr sz="2325" b="1" i="0">
                <a:solidFill>
                  <a:srgbClr val="F8FAFC"/>
                </a:solidFill>
              </a:defRPr>
            </a:lvl5pPr>
            <a:lvl6pPr>
              <a:defRPr sz="2325" b="1" i="0">
                <a:solidFill>
                  <a:srgbClr val="F8FAFC"/>
                </a:solidFill>
              </a:defRPr>
            </a:lvl6pPr>
            <a:lvl7pPr>
              <a:defRPr sz="2325" b="1" i="0">
                <a:solidFill>
                  <a:srgbClr val="F8FAFC"/>
                </a:solidFill>
              </a:defRPr>
            </a:lvl7pPr>
            <a:lvl8pPr>
              <a:defRPr sz="2325" b="1" i="0">
                <a:solidFill>
                  <a:srgbClr val="F8FAFC"/>
                </a:solidFill>
              </a:defRPr>
            </a:lvl8pPr>
            <a:lvl9pPr>
              <a:defRPr sz="2325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2325" b="1" i="0">
                <a:solidFill>
                  <a:srgbClr val="F8FAFC"/>
                </a:solidFill>
              </a:defRPr>
            </a:pPr>
            <a:r>
              <a:rPr sz="2325" b="1" i="0">
                <a:solidFill>
                  <a:srgbClr val="F8FAFC"/>
                </a:solidFill>
              </a:rPr>
              <a:t>Future work and mentor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35D5D-4626-4940-B24F-7EFC98FB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A8B1C1"/>
                </a:solidFill>
              </a:defRPr>
            </a:defPPr>
            <a:lvl1pPr>
              <a:defRPr sz="1125" b="0" i="0">
                <a:solidFill>
                  <a:srgbClr val="A8B1C1"/>
                </a:solidFill>
              </a:defRPr>
            </a:lvl1pPr>
            <a:lvl2pPr>
              <a:defRPr sz="1125" b="0" i="0">
                <a:solidFill>
                  <a:srgbClr val="A8B1C1"/>
                </a:solidFill>
              </a:defRPr>
            </a:lvl2pPr>
            <a:lvl3pPr>
              <a:defRPr sz="1125" b="0" i="0">
                <a:solidFill>
                  <a:srgbClr val="A8B1C1"/>
                </a:solidFill>
              </a:defRPr>
            </a:lvl3pPr>
            <a:lvl4pPr>
              <a:defRPr sz="1125" b="0" i="0">
                <a:solidFill>
                  <a:srgbClr val="A8B1C1"/>
                </a:solidFill>
              </a:defRPr>
            </a:lvl4pPr>
            <a:lvl5pPr>
              <a:defRPr sz="1125" b="0" i="0">
                <a:solidFill>
                  <a:srgbClr val="A8B1C1"/>
                </a:solidFill>
              </a:defRPr>
            </a:lvl5pPr>
            <a:lvl6pPr>
              <a:defRPr sz="1125" b="0" i="0">
                <a:solidFill>
                  <a:srgbClr val="A8B1C1"/>
                </a:solidFill>
              </a:defRPr>
            </a:lvl6pPr>
            <a:lvl7pPr>
              <a:defRPr sz="1125" b="0" i="0">
                <a:solidFill>
                  <a:srgbClr val="A8B1C1"/>
                </a:solidFill>
              </a:defRPr>
            </a:lvl7pPr>
            <a:lvl8pPr>
              <a:defRPr sz="1125" b="0" i="0">
                <a:solidFill>
                  <a:srgbClr val="A8B1C1"/>
                </a:solidFill>
              </a:defRPr>
            </a:lvl8pPr>
            <a:lvl9pPr>
              <a:defRPr sz="1125" b="0" i="0">
                <a:solidFill>
                  <a:srgbClr val="A8B1C1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A8B1C1"/>
                </a:solidFill>
              </a:defRPr>
            </a:pPr>
            <a:r>
              <a:rPr sz="1125" b="0" i="0">
                <a:solidFill>
                  <a:srgbClr val="A8B1C1"/>
                </a:solidFill>
              </a:rPr>
              <a:t>The highest-value next step is measurable validation on a controlled physical shelf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6FA18-AF73-4964-BD1F-6C0DFCEE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07E5F-2429-4C76-8A81-52096749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457450" cy="2495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73F96-AE02-467E-A903-E074D601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28625" cy="428625"/>
          </a:xfrm>
          <a:prstGeom xmlns:a="http://schemas.openxmlformats.org/drawingml/2006/main" prst="roundRect">
            <a:avLst>
              <a:gd name="adj" fmla="val 48889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DE04E-63AC-46CE-8DDA-9789E81A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6EE7B7"/>
                </a:solidFill>
              </a:defRPr>
            </a:defPPr>
            <a:lvl1pPr>
              <a:defRPr sz="1200" b="1" i="0">
                <a:solidFill>
                  <a:srgbClr val="6EE7B7"/>
                </a:solidFill>
              </a:defRPr>
            </a:lvl1pPr>
            <a:lvl2pPr>
              <a:defRPr sz="1200" b="1" i="0">
                <a:solidFill>
                  <a:srgbClr val="6EE7B7"/>
                </a:solidFill>
              </a:defRPr>
            </a:lvl2pPr>
            <a:lvl3pPr>
              <a:defRPr sz="1200" b="1" i="0">
                <a:solidFill>
                  <a:srgbClr val="6EE7B7"/>
                </a:solidFill>
              </a:defRPr>
            </a:lvl3pPr>
            <a:lvl4pPr>
              <a:defRPr sz="1200" b="1" i="0">
                <a:solidFill>
                  <a:srgbClr val="6EE7B7"/>
                </a:solidFill>
              </a:defRPr>
            </a:lvl4pPr>
            <a:lvl5pPr>
              <a:defRPr sz="1200" b="1" i="0">
                <a:solidFill>
                  <a:srgbClr val="6EE7B7"/>
                </a:solidFill>
              </a:defRPr>
            </a:lvl5pPr>
            <a:lvl6pPr>
              <a:defRPr sz="1200" b="1" i="0">
                <a:solidFill>
                  <a:srgbClr val="6EE7B7"/>
                </a:solidFill>
              </a:defRPr>
            </a:lvl6pPr>
            <a:lvl7pPr>
              <a:defRPr sz="1200" b="1" i="0">
                <a:solidFill>
                  <a:srgbClr val="6EE7B7"/>
                </a:solidFill>
              </a:defRPr>
            </a:lvl7pPr>
            <a:lvl8pPr>
              <a:defRPr sz="1200" b="1" i="0">
                <a:solidFill>
                  <a:srgbClr val="6EE7B7"/>
                </a:solidFill>
              </a:defRPr>
            </a:lvl8pPr>
            <a:lvl9pPr>
              <a:defRPr sz="1200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B5421-F913-42B4-A359-6D0BFE60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1. Build labelled fixture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6369C-BE42-4DEA-AD11-01DC81DF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Measured shelf rows, pixel boxes, exact SKU/variant identities, price labels, and multiple controlled error scenarios.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90AD8-4449-4B02-B4B7-52972AF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286000"/>
            <a:ext cx="2457450" cy="2495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7255B-CDB3-4933-A233-F0743C19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43175"/>
            <a:ext cx="428625" cy="428625"/>
          </a:xfrm>
          <a:prstGeom xmlns:a="http://schemas.openxmlformats.org/drawingml/2006/main" prst="roundRect">
            <a:avLst>
              <a:gd name="adj" fmla="val 48889"/>
            </a:avLst>
          </a:prstGeom>
          <a:solidFill xmlns:a="http://schemas.openxmlformats.org/drawingml/2006/main">
            <a:srgbClr val="112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4EBCC-7C9F-4547-9EAF-A5A42155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6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38BDF8"/>
                </a:solidFill>
              </a:defRPr>
            </a:defPPr>
            <a:lvl1pPr>
              <a:defRPr sz="1200" b="1" i="0">
                <a:solidFill>
                  <a:srgbClr val="38BDF8"/>
                </a:solidFill>
              </a:defRPr>
            </a:lvl1pPr>
            <a:lvl2pPr>
              <a:defRPr sz="1200" b="1" i="0">
                <a:solidFill>
                  <a:srgbClr val="38BDF8"/>
                </a:solidFill>
              </a:defRPr>
            </a:lvl2pPr>
            <a:lvl3pPr>
              <a:defRPr sz="1200" b="1" i="0">
                <a:solidFill>
                  <a:srgbClr val="38BDF8"/>
                </a:solidFill>
              </a:defRPr>
            </a:lvl3pPr>
            <a:lvl4pPr>
              <a:defRPr sz="1200" b="1" i="0">
                <a:solidFill>
                  <a:srgbClr val="38BDF8"/>
                </a:solidFill>
              </a:defRPr>
            </a:lvl4pPr>
            <a:lvl5pPr>
              <a:defRPr sz="1200" b="1" i="0">
                <a:solidFill>
                  <a:srgbClr val="38BDF8"/>
                </a:solidFill>
              </a:defRPr>
            </a:lvl5pPr>
            <a:lvl6pPr>
              <a:defRPr sz="1200" b="1" i="0">
                <a:solidFill>
                  <a:srgbClr val="38BDF8"/>
                </a:solidFill>
              </a:defRPr>
            </a:lvl6pPr>
            <a:lvl7pPr>
              <a:defRPr sz="1200" b="1" i="0">
                <a:solidFill>
                  <a:srgbClr val="38BDF8"/>
                </a:solidFill>
              </a:defRPr>
            </a:lvl7pPr>
            <a:lvl8pPr>
              <a:defRPr sz="1200" b="1" i="0">
                <a:solidFill>
                  <a:srgbClr val="38BDF8"/>
                </a:solidFill>
              </a:defRPr>
            </a:lvl8pPr>
            <a:lvl9pPr>
              <a:defRPr sz="1200" b="1" i="0">
                <a:solidFill>
                  <a:srgbClr val="38BDF8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38BDF8"/>
                </a:solidFill>
              </a:defRPr>
            </a:pPr>
            <a:r>
              <a:rPr sz="1200" b="1" i="0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21F94-9D93-4A7B-ACEE-7A5596AA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194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2. Calibrate 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5DF3E-5E2C-4684-8A3C-DC130C5C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8481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Measure detector quality, matching accuracy, position tolerance, empty-space recall, and OCR correctness.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4CCA4-0B5B-4FA0-BC5C-2E15ECB2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2457450" cy="2495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DAC38-BD8A-4C98-BB1D-E677C0F6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428625" cy="428625"/>
          </a:xfrm>
          <a:prstGeom xmlns:a="http://schemas.openxmlformats.org/drawingml/2006/main" prst="roundRect">
            <a:avLst>
              <a:gd name="adj" fmla="val 48889"/>
            </a:avLst>
          </a:prstGeom>
          <a:solidFill xmlns:a="http://schemas.openxmlformats.org/drawingml/2006/main">
            <a:srgbClr val="332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DF27D1-651A-4BDE-B72C-7A4F89E8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59E0B"/>
                </a:solidFill>
              </a:defRPr>
            </a:defPPr>
            <a:lvl1pPr>
              <a:defRPr sz="1200" b="1" i="0">
                <a:solidFill>
                  <a:srgbClr val="F59E0B"/>
                </a:solidFill>
              </a:defRPr>
            </a:lvl1pPr>
            <a:lvl2pPr>
              <a:defRPr sz="1200" b="1" i="0">
                <a:solidFill>
                  <a:srgbClr val="F59E0B"/>
                </a:solidFill>
              </a:defRPr>
            </a:lvl2pPr>
            <a:lvl3pPr>
              <a:defRPr sz="1200" b="1" i="0">
                <a:solidFill>
                  <a:srgbClr val="F59E0B"/>
                </a:solidFill>
              </a:defRPr>
            </a:lvl3pPr>
            <a:lvl4pPr>
              <a:defRPr sz="1200" b="1" i="0">
                <a:solidFill>
                  <a:srgbClr val="F59E0B"/>
                </a:solidFill>
              </a:defRPr>
            </a:lvl4pPr>
            <a:lvl5pPr>
              <a:defRPr sz="1200" b="1" i="0">
                <a:solidFill>
                  <a:srgbClr val="F59E0B"/>
                </a:solidFill>
              </a:defRPr>
            </a:lvl5pPr>
            <a:lvl6pPr>
              <a:defRPr sz="1200" b="1" i="0">
                <a:solidFill>
                  <a:srgbClr val="F59E0B"/>
                </a:solidFill>
              </a:defRPr>
            </a:lvl6pPr>
            <a:lvl7pPr>
              <a:defRPr sz="1200" b="1" i="0">
                <a:solidFill>
                  <a:srgbClr val="F59E0B"/>
                </a:solidFill>
              </a:defRPr>
            </a:lvl7pPr>
            <a:lvl8pPr>
              <a:defRPr sz="1200" b="1" i="0">
                <a:solidFill>
                  <a:srgbClr val="F59E0B"/>
                </a:solidFill>
              </a:defRPr>
            </a:lvl8pPr>
            <a:lvl9pPr>
              <a:defRPr sz="1200" b="1" i="0">
                <a:solidFill>
                  <a:srgbClr val="F59E0B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59E0B"/>
                </a:solidFill>
              </a:defRPr>
            </a:pPr>
            <a:r>
              <a:rPr sz="12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5D0BE-0905-4F0A-B5D6-FD9A418D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3. Strengthen recognition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D593E-6BBE-4136-93A8-B3D3739B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81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Expand catalogue packshots, add variant-specific data, hard-negative examples, and human review feedback.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4F842-CFAD-4859-A6F6-40B071B4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86000"/>
            <a:ext cx="2457450" cy="2495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1A23"/>
          </a:solidFill>
          <a:ln xmlns:a="http://schemas.openxmlformats.org/drawingml/2006/main" w="9525">
            <a:solidFill>
              <a:srgbClr val="3B45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2EDF7-BD16-4F79-BB3E-6E59DC5D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43175"/>
            <a:ext cx="428625" cy="428625"/>
          </a:xfrm>
          <a:prstGeom xmlns:a="http://schemas.openxmlformats.org/drawingml/2006/main" prst="roundRect">
            <a:avLst>
              <a:gd name="adj" fmla="val 48889"/>
            </a:avLst>
          </a:prstGeom>
          <a:solidFill xmlns:a="http://schemas.openxmlformats.org/drawingml/2006/main">
            <a:srgbClr val="3421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B6F51-8484-4A9A-8D68-EEF55551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670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 i="0">
                <a:solidFill>
                  <a:srgbClr val="FB7185"/>
                </a:solidFill>
              </a:defRPr>
            </a:defPPr>
            <a:lvl1pPr>
              <a:defRPr sz="1200" b="1" i="0">
                <a:solidFill>
                  <a:srgbClr val="FB7185"/>
                </a:solidFill>
              </a:defRPr>
            </a:lvl1pPr>
            <a:lvl2pPr>
              <a:defRPr sz="1200" b="1" i="0">
                <a:solidFill>
                  <a:srgbClr val="FB7185"/>
                </a:solidFill>
              </a:defRPr>
            </a:lvl2pPr>
            <a:lvl3pPr>
              <a:defRPr sz="1200" b="1" i="0">
                <a:solidFill>
                  <a:srgbClr val="FB7185"/>
                </a:solidFill>
              </a:defRPr>
            </a:lvl3pPr>
            <a:lvl4pPr>
              <a:defRPr sz="1200" b="1" i="0">
                <a:solidFill>
                  <a:srgbClr val="FB7185"/>
                </a:solidFill>
              </a:defRPr>
            </a:lvl4pPr>
            <a:lvl5pPr>
              <a:defRPr sz="1200" b="1" i="0">
                <a:solidFill>
                  <a:srgbClr val="FB7185"/>
                </a:solidFill>
              </a:defRPr>
            </a:lvl5pPr>
            <a:lvl6pPr>
              <a:defRPr sz="1200" b="1" i="0">
                <a:solidFill>
                  <a:srgbClr val="FB7185"/>
                </a:solidFill>
              </a:defRPr>
            </a:lvl6pPr>
            <a:lvl7pPr>
              <a:defRPr sz="1200" b="1" i="0">
                <a:solidFill>
                  <a:srgbClr val="FB7185"/>
                </a:solidFill>
              </a:defRPr>
            </a:lvl7pPr>
            <a:lvl8pPr>
              <a:defRPr sz="1200" b="1" i="0">
                <a:solidFill>
                  <a:srgbClr val="FB7185"/>
                </a:solidFill>
              </a:defRPr>
            </a:lvl8pPr>
            <a:lvl9pPr>
              <a:defRPr sz="1200" b="1" i="0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FB7185"/>
                </a:solidFill>
              </a:defRPr>
            </a:pPr>
            <a:r>
              <a:rPr sz="1200" b="1" i="0">
                <a:solidFill>
                  <a:srgbClr val="FB7185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345BC-F553-4850-B8EF-4428446C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194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 i="0">
                <a:solidFill>
                  <a:srgbClr val="F8FAFC"/>
                </a:solidFill>
              </a:defRPr>
            </a:defPPr>
            <a:lvl1pPr>
              <a:defRPr sz="1500" b="1" i="0">
                <a:solidFill>
                  <a:srgbClr val="F8FAFC"/>
                </a:solidFill>
              </a:defRPr>
            </a:lvl1pPr>
            <a:lvl2pPr>
              <a:defRPr sz="1500" b="1" i="0">
                <a:solidFill>
                  <a:srgbClr val="F8FAFC"/>
                </a:solidFill>
              </a:defRPr>
            </a:lvl2pPr>
            <a:lvl3pPr>
              <a:defRPr sz="1500" b="1" i="0">
                <a:solidFill>
                  <a:srgbClr val="F8FAFC"/>
                </a:solidFill>
              </a:defRPr>
            </a:lvl3pPr>
            <a:lvl4pPr>
              <a:defRPr sz="1500" b="1" i="0">
                <a:solidFill>
                  <a:srgbClr val="F8FAFC"/>
                </a:solidFill>
              </a:defRPr>
            </a:lvl4pPr>
            <a:lvl5pPr>
              <a:defRPr sz="1500" b="1" i="0">
                <a:solidFill>
                  <a:srgbClr val="F8FAFC"/>
                </a:solidFill>
              </a:defRPr>
            </a:lvl5pPr>
            <a:lvl6pPr>
              <a:defRPr sz="1500" b="1" i="0">
                <a:solidFill>
                  <a:srgbClr val="F8FAFC"/>
                </a:solidFill>
              </a:defRPr>
            </a:lvl6pPr>
            <a:lvl7pPr>
              <a:defRPr sz="1500" b="1" i="0">
                <a:solidFill>
                  <a:srgbClr val="F8FAFC"/>
                </a:solidFill>
              </a:defRPr>
            </a:lvl7pPr>
            <a:lvl8pPr>
              <a:defRPr sz="1500" b="1" i="0">
                <a:solidFill>
                  <a:srgbClr val="F8FAFC"/>
                </a:solidFill>
              </a:defRPr>
            </a:lvl8pPr>
            <a:lvl9pPr>
              <a:defRPr sz="1500" b="1" i="0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8FAFC"/>
                </a:solidFill>
              </a:defRPr>
            </a:pPr>
            <a:r>
              <a:rPr sz="1500" b="1" i="0">
                <a:solidFill>
                  <a:srgbClr val="F8FAFC"/>
                </a:solidFill>
              </a:rPr>
              <a:t>4. Productize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50B94-282B-4232-B79E-0BE9B111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848100"/>
            <a:ext cx="1971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25" b="0" i="0">
                <a:solidFill>
                  <a:srgbClr val="E2E8F0"/>
                </a:solidFill>
              </a:defRPr>
            </a:defPPr>
            <a:lvl1pPr>
              <a:defRPr sz="1125" b="0" i="0">
                <a:solidFill>
                  <a:srgbClr val="E2E8F0"/>
                </a:solidFill>
              </a:defRPr>
            </a:lvl1pPr>
            <a:lvl2pPr>
              <a:defRPr sz="1125" b="0" i="0">
                <a:solidFill>
                  <a:srgbClr val="E2E8F0"/>
                </a:solidFill>
              </a:defRPr>
            </a:lvl2pPr>
            <a:lvl3pPr>
              <a:defRPr sz="1125" b="0" i="0">
                <a:solidFill>
                  <a:srgbClr val="E2E8F0"/>
                </a:solidFill>
              </a:defRPr>
            </a:lvl3pPr>
            <a:lvl4pPr>
              <a:defRPr sz="1125" b="0" i="0">
                <a:solidFill>
                  <a:srgbClr val="E2E8F0"/>
                </a:solidFill>
              </a:defRPr>
            </a:lvl4pPr>
            <a:lvl5pPr>
              <a:defRPr sz="1125" b="0" i="0">
                <a:solidFill>
                  <a:srgbClr val="E2E8F0"/>
                </a:solidFill>
              </a:defRPr>
            </a:lvl5pPr>
            <a:lvl6pPr>
              <a:defRPr sz="1125" b="0" i="0">
                <a:solidFill>
                  <a:srgbClr val="E2E8F0"/>
                </a:solidFill>
              </a:defRPr>
            </a:lvl6pPr>
            <a:lvl7pPr>
              <a:defRPr sz="1125" b="0" i="0">
                <a:solidFill>
                  <a:srgbClr val="E2E8F0"/>
                </a:solidFill>
              </a:defRPr>
            </a:lvl7pPr>
            <a:lvl8pPr>
              <a:defRPr sz="1125" b="0" i="0">
                <a:solidFill>
                  <a:srgbClr val="E2E8F0"/>
                </a:solidFill>
              </a:defRPr>
            </a:lvl8pPr>
            <a:lvl9pPr>
              <a:defRPr sz="1125" b="0" i="0">
                <a:solidFill>
                  <a:srgbClr val="E2E8F0"/>
                </a:solidFill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E2E8F0"/>
                </a:solidFill>
              </a:defRPr>
            </a:pPr>
            <a:r>
              <a:rPr sz="1125" b="0" i="0">
                <a:solidFill>
                  <a:srgbClr val="E2E8F0"/>
                </a:solidFill>
              </a:rPr>
              <a:t>Move beyond local storage, define monitoring, access controls, deployment, and retailer workflow integration.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48701-BD53-4920-91AA-7F49FD5C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542925"/>
          </a:xfrm>
          <a:prstGeom xmlns:a="http://schemas.openxmlformats.org/drawingml/2006/main" prst="roundRect">
            <a:avLst>
              <a:gd name="adj" fmla="val 24561"/>
            </a:avLst>
          </a:prstGeom>
          <a:solidFill xmlns:a="http://schemas.openxmlformats.org/drawingml/2006/main">
            <a:srgbClr val="173A39"/>
          </a:solidFill>
          <a:ln xmlns:a="http://schemas.openxmlformats.org/drawingml/2006/main" w="9525">
            <a:solidFill>
              <a:srgbClr val="2C65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932201-1272-437B-8E33-9EDA6A32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53075"/>
            <a:ext cx="862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1" i="0">
                <a:solidFill>
                  <a:srgbClr val="6EE7B7"/>
                </a:solidFill>
              </a:defRPr>
            </a:defPPr>
            <a:lvl1pPr>
              <a:defRPr sz="1275" b="1" i="0">
                <a:solidFill>
                  <a:srgbClr val="6EE7B7"/>
                </a:solidFill>
              </a:defRPr>
            </a:lvl1pPr>
            <a:lvl2pPr>
              <a:defRPr sz="1275" b="1" i="0">
                <a:solidFill>
                  <a:srgbClr val="6EE7B7"/>
                </a:solidFill>
              </a:defRPr>
            </a:lvl2pPr>
            <a:lvl3pPr>
              <a:defRPr sz="1275" b="1" i="0">
                <a:solidFill>
                  <a:srgbClr val="6EE7B7"/>
                </a:solidFill>
              </a:defRPr>
            </a:lvl3pPr>
            <a:lvl4pPr>
              <a:defRPr sz="1275" b="1" i="0">
                <a:solidFill>
                  <a:srgbClr val="6EE7B7"/>
                </a:solidFill>
              </a:defRPr>
            </a:lvl4pPr>
            <a:lvl5pPr>
              <a:defRPr sz="1275" b="1" i="0">
                <a:solidFill>
                  <a:srgbClr val="6EE7B7"/>
                </a:solidFill>
              </a:defRPr>
            </a:lvl5pPr>
            <a:lvl6pPr>
              <a:defRPr sz="1275" b="1" i="0">
                <a:solidFill>
                  <a:srgbClr val="6EE7B7"/>
                </a:solidFill>
              </a:defRPr>
            </a:lvl6pPr>
            <a:lvl7pPr>
              <a:defRPr sz="1275" b="1" i="0">
                <a:solidFill>
                  <a:srgbClr val="6EE7B7"/>
                </a:solidFill>
              </a:defRPr>
            </a:lvl7pPr>
            <a:lvl8pPr>
              <a:defRPr sz="1275" b="1" i="0">
                <a:solidFill>
                  <a:srgbClr val="6EE7B7"/>
                </a:solidFill>
              </a:defRPr>
            </a:lvl8pPr>
            <a:lvl9pPr>
              <a:defRPr sz="1275" b="1" i="0">
                <a:solidFill>
                  <a:srgbClr val="6EE7B7"/>
                </a:solidFill>
              </a:defRPr>
            </a:lvl9pPr>
          </a:lstStyle>
          <a:p xmlns:a="http://schemas.openxmlformats.org/drawingml/2006/main">
            <a:pPr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Mentor prompt: validate the controlled fixture design and success metrics before expanding model complexity.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F197F-C685-4DB3-A9F0-DAB2911A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ShelfSense AI  |  Mentor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A667EE-E437-4523-8253-6A4C835D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" b="0" i="0">
                <a:solidFill>
                  <a:srgbClr val="708097"/>
                </a:solidFill>
              </a:defRPr>
            </a:defPPr>
            <a:lvl1pPr>
              <a:defRPr sz="825" b="0" i="0">
                <a:solidFill>
                  <a:srgbClr val="708097"/>
                </a:solidFill>
              </a:defRPr>
            </a:lvl1pPr>
            <a:lvl2pPr>
              <a:defRPr sz="825" b="0" i="0">
                <a:solidFill>
                  <a:srgbClr val="708097"/>
                </a:solidFill>
              </a:defRPr>
            </a:lvl2pPr>
            <a:lvl3pPr>
              <a:defRPr sz="825" b="0" i="0">
                <a:solidFill>
                  <a:srgbClr val="708097"/>
                </a:solidFill>
              </a:defRPr>
            </a:lvl3pPr>
            <a:lvl4pPr>
              <a:defRPr sz="825" b="0" i="0">
                <a:solidFill>
                  <a:srgbClr val="708097"/>
                </a:solidFill>
              </a:defRPr>
            </a:lvl4pPr>
            <a:lvl5pPr>
              <a:defRPr sz="825" b="0" i="0">
                <a:solidFill>
                  <a:srgbClr val="708097"/>
                </a:solidFill>
              </a:defRPr>
            </a:lvl5pPr>
            <a:lvl6pPr>
              <a:defRPr sz="825" b="0" i="0">
                <a:solidFill>
                  <a:srgbClr val="708097"/>
                </a:solidFill>
              </a:defRPr>
            </a:lvl6pPr>
            <a:lvl7pPr>
              <a:defRPr sz="825" b="0" i="0">
                <a:solidFill>
                  <a:srgbClr val="708097"/>
                </a:solidFill>
              </a:defRPr>
            </a:lvl7pPr>
            <a:lvl8pPr>
              <a:defRPr sz="825" b="0" i="0">
                <a:solidFill>
                  <a:srgbClr val="708097"/>
                </a:solidFill>
              </a:defRPr>
            </a:lvl8pPr>
            <a:lvl9pPr>
              <a:defRPr sz="825" b="0" i="0">
                <a:solidFill>
                  <a:srgbClr val="708097"/>
                </a:solidFill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708097"/>
                </a:solidFill>
              </a:defRPr>
            </a:pPr>
            <a:r>
              <a:rPr sz="825" b="0" i="0">
                <a:solidFill>
                  <a:srgbClr val="708097"/>
                </a:solidFill>
              </a:rPr>
              <a:t>16  /  16</a:t>
            </a:r>
          </a:p>
        </p:txBody>
      </p:sp>
    </p:spTree>
    <p:extLst>
      <p:ext uri="{BB962C8B-B14F-4D97-AF65-F5344CB8AC3E}">
        <p14:creationId xmlns:p14="http://schemas.microsoft.com/office/powerpoint/2010/main" val="48050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2026-10-23T00:33:21.3810000Z</dcterms:created>
  <dcterms:modified xsi:type="dcterms:W3CDTF">2026-10-23T00:33:21.3810000Z</dcterms:modified>
</coreProperties>
</file>